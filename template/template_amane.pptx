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4.xml" ContentType="application/vnd.openxmlformats-officedocument.drawingml.chart+xml"/>
  <Override PartName="/ppt/theme/themeOverride1.xml" ContentType="application/vnd.openxmlformats-officedocument.themeOverride+xml"/>
  <Override PartName="/ppt/charts/chart5.xml" ContentType="application/vnd.openxmlformats-officedocument.drawingml.chart+xml"/>
  <Override PartName="/ppt/theme/themeOverride2.xml" ContentType="application/vnd.openxmlformats-officedocument.themeOverride+xml"/>
  <Override PartName="/ppt/charts/chart6.xml" ContentType="application/vnd.openxmlformats-officedocument.drawingml.chart+xml"/>
  <Override PartName="/ppt/theme/themeOverride3.xml" ContentType="application/vnd.openxmlformats-officedocument.themeOverride+xml"/>
  <Override PartName="/ppt/charts/chart7.xml" ContentType="application/vnd.openxmlformats-officedocument.drawingml.chart+xml"/>
  <Override PartName="/ppt/theme/themeOverride4.xml" ContentType="application/vnd.openxmlformats-officedocument.themeOverride+xml"/>
  <Override PartName="/ppt/charts/chart8.xml" ContentType="application/vnd.openxmlformats-officedocument.drawingml.chart+xml"/>
  <Override PartName="/ppt/theme/themeOverride5.xml" ContentType="application/vnd.openxmlformats-officedocument.themeOverr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theme/themeOverride6.xml" ContentType="application/vnd.openxmlformats-officedocument.themeOverr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721" r:id="rId2"/>
  </p:sldMasterIdLst>
  <p:notesMasterIdLst>
    <p:notesMasterId r:id="rId19"/>
  </p:notesMasterIdLst>
  <p:handoutMasterIdLst>
    <p:handoutMasterId r:id="rId20"/>
  </p:handoutMasterIdLst>
  <p:sldIdLst>
    <p:sldId id="256" r:id="rId3"/>
    <p:sldId id="2134805587" r:id="rId4"/>
    <p:sldId id="2134805588" r:id="rId5"/>
    <p:sldId id="2134805593" r:id="rId6"/>
    <p:sldId id="2134805592" r:id="rId7"/>
    <p:sldId id="2134805594" r:id="rId8"/>
    <p:sldId id="2134805595" r:id="rId9"/>
    <p:sldId id="2134805598" r:id="rId10"/>
    <p:sldId id="2134805599" r:id="rId11"/>
    <p:sldId id="2134805600" r:id="rId12"/>
    <p:sldId id="2134805602" r:id="rId13"/>
    <p:sldId id="2134805604" r:id="rId14"/>
    <p:sldId id="2134805603" r:id="rId15"/>
    <p:sldId id="2134805564" r:id="rId16"/>
    <p:sldId id="2134805606" r:id="rId17"/>
    <p:sldId id="2134805607" r:id="rId18"/>
  </p:sldIdLst>
  <p:sldSz cx="9906000" cy="6858000" type="A4"/>
  <p:notesSz cx="6735763" cy="98663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B62943C-B9DF-D901-E71D-1A41E5EBBA4D}" name="井上" initials="佳井" userId="S::keizo@amane.ltd::eb7a5d12-fc98-4db1-a84e-b4dcd8ef497d" providerId="AD"/>
  <p188:author id="{F088C85A-DD88-1C33-8BD3-40334A3B55FD}" name="松田 斗夢（AMANE）" initials="" userId="S::t.matsuda@amane.ltd::d0046f10-9a19-4914-9a19-c1bfd6ae665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608C"/>
    <a:srgbClr val="548CAD"/>
    <a:srgbClr val="00295F"/>
    <a:srgbClr val="A6C6D6"/>
    <a:srgbClr val="E7E6E6"/>
    <a:srgbClr val="E6F3FB"/>
    <a:srgbClr val="F5CC01"/>
    <a:srgbClr val="FFF2CC"/>
    <a:srgbClr val="FFCC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淡色スタイル 3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淡色スタイル 2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淡色スタイル 1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611" autoAdjust="0"/>
    <p:restoredTop sz="96893" autoAdjust="0"/>
  </p:normalViewPr>
  <p:slideViewPr>
    <p:cSldViewPr snapToObjects="1" showGuides="1">
      <p:cViewPr varScale="1">
        <p:scale>
          <a:sx n="128" d="100"/>
          <a:sy n="128" d="100"/>
        </p:scale>
        <p:origin x="2032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-54084"/>
    </p:cViewPr>
  </p:sorterViewPr>
  <p:notesViewPr>
    <p:cSldViewPr snapToObjects="1" showGuides="1">
      <p:cViewPr varScale="1">
        <p:scale>
          <a:sx n="55" d="100"/>
          <a:sy n="55" d="100"/>
        </p:scale>
        <p:origin x="333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8/10/relationships/authors" Target="author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______2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______3.xlsx"/><Relationship Id="rId1" Type="http://schemas.openxmlformats.org/officeDocument/2006/relationships/themeOverride" Target="../theme/themeOverride1.xml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______4.xlsx"/><Relationship Id="rId1" Type="http://schemas.openxmlformats.org/officeDocument/2006/relationships/themeOverride" Target="../theme/themeOverride2.xml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______5.xlsx"/><Relationship Id="rId1" Type="http://schemas.openxmlformats.org/officeDocument/2006/relationships/themeOverride" Target="../theme/themeOverride3.xml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______6.xlsx"/><Relationship Id="rId1" Type="http://schemas.openxmlformats.org/officeDocument/2006/relationships/themeOverride" Target="../theme/themeOverride4.xml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______7.xlsx"/><Relationship Id="rId1" Type="http://schemas.openxmlformats.org/officeDocument/2006/relationships/themeOverride" Target="../theme/themeOverride5.xm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10.xlsx"/></Relationships>
</file>

<file path=ppt/charts/_rels/chart12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______11.xlsx"/><Relationship Id="rId1" Type="http://schemas.openxmlformats.org/officeDocument/2006/relationships/themeOverride" Target="../theme/themeOverride6.xm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3CA8-3F42-9127-FD1C417F34EC}"/>
              </c:ext>
            </c:extLst>
          </c:dPt>
          <c:dPt>
            <c:idx val="1"/>
            <c:bubble3D val="0"/>
            <c:spPr>
              <a:solidFill>
                <a:srgbClr val="15608C"/>
              </a:solidFill>
            </c:spPr>
            <c:extLst>
              <c:ext xmlns:c16="http://schemas.microsoft.com/office/drawing/2014/chart" uri="{C3380CC4-5D6E-409C-BE32-E72D297353CC}">
                <c16:uniqueId val="{00000003-3CA8-3F42-9127-FD1C417F34E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3CA8-3F42-9127-FD1C417F34EC}"/>
              </c:ext>
            </c:extLst>
          </c:dPt>
          <c:dPt>
            <c:idx val="3"/>
            <c:bubble3D val="0"/>
            <c:spPr>
              <a:solidFill>
                <a:srgbClr val="FF6B6B"/>
              </a:solidFill>
            </c:spPr>
            <c:extLst>
              <c:ext xmlns:c16="http://schemas.microsoft.com/office/drawing/2014/chart" uri="{C3380CC4-5D6E-409C-BE32-E72D297353CC}">
                <c16:uniqueId val="{00000007-3CA8-3F42-9127-FD1C417F34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ea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会場受講</c:v>
                </c:pt>
                <c:pt idx="1">
                  <c:v>WEB受講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</c:v>
                </c:pt>
                <c:pt idx="1">
                  <c:v>194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CA8-3F42-9127-FD1C417F34E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b"/>
      <c:legendEntry>
        <c:idx val="2"/>
        <c:delete val="1"/>
      </c:legendEntry>
      <c:legendEntry>
        <c:idx val="3"/>
        <c:delete val="1"/>
      </c:legendEntry>
      <c:overlay val="0"/>
      <c:txPr>
        <a:bodyPr/>
        <a:lstStyle/>
        <a:p>
          <a:pPr>
            <a:defRPr sz="1000">
              <a:latin typeface="+mn-ea"/>
              <a:ea typeface="+mn-ea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</c:spPr>
            <c:extLst>
              <c:ext xmlns:c16="http://schemas.microsoft.com/office/drawing/2014/chart" uri="{C3380CC4-5D6E-409C-BE32-E72D297353CC}">
                <c16:uniqueId val="{00000001-4973-D240-A3CA-1B77B6F43C6D}"/>
              </c:ext>
            </c:extLst>
          </c:dPt>
          <c:dPt>
            <c:idx val="1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3-4973-D240-A3CA-1B77B6F43C6D}"/>
              </c:ext>
            </c:extLst>
          </c:dPt>
          <c:dPt>
            <c:idx val="2"/>
            <c:bubble3D val="0"/>
            <c:spPr>
              <a:solidFill>
                <a:srgbClr val="15608C"/>
              </a:solidFill>
            </c:spPr>
            <c:extLst>
              <c:ext xmlns:c16="http://schemas.microsoft.com/office/drawing/2014/chart" uri="{C3380CC4-5D6E-409C-BE32-E72D297353CC}">
                <c16:uniqueId val="{00000005-4973-D240-A3CA-1B77B6F43C6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 b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ea"/>
                    <a:ea typeface="+mn-ea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会場受講</c:v>
                </c:pt>
                <c:pt idx="1">
                  <c:v>会場→WEBへ変更</c:v>
                </c:pt>
                <c:pt idx="2">
                  <c:v>WEB受講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</c:v>
                </c:pt>
                <c:pt idx="1">
                  <c:v>14</c:v>
                </c:pt>
                <c:pt idx="2">
                  <c:v>140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973-D240-A3CA-1B77B6F43C6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b"/>
      <c:overlay val="0"/>
      <c:txPr>
        <a:bodyPr/>
        <a:lstStyle/>
        <a:p>
          <a:pPr>
            <a:defRPr sz="1000">
              <a:latin typeface="+mn-ea"/>
              <a:ea typeface="+mn-ea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AF5-4F4B-87AD-6F734576F845}"/>
              </c:ext>
            </c:extLst>
          </c:dPt>
          <c:dPt>
            <c:idx val="1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AF5-4F4B-87AD-6F734576F84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AF5-4F4B-87AD-6F734576F845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BAF5-4F4B-87AD-6F734576F84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ea"/>
                    <a:ea typeface="+mn-ea"/>
                    <a:cs typeface="+mn-cs"/>
                  </a:defRPr>
                </a:pPr>
                <a:endParaRPr lang="ja-JP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6350" cap="flat" cmpd="sng" algn="ctr">
                  <a:solidFill>
                    <a:schemeClr val="tx1"/>
                  </a:solidFill>
                  <a:prstDash val="solid"/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2"/>
                <c:pt idx="0">
                  <c:v>回答</c:v>
                </c:pt>
                <c:pt idx="1">
                  <c:v>未回答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</c:v>
                </c:pt>
                <c:pt idx="1">
                  <c:v>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AF5-4F4B-87AD-6F734576F8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2"/>
        <c:delete val="1"/>
      </c:legendEntry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/>
              </a:solidFill>
              <a:latin typeface="+mn-ea"/>
              <a:ea typeface="+mn-ea"/>
              <a:cs typeface="+mn-cs"/>
            </a:defRPr>
          </a:pPr>
          <a:endParaRPr lang="ja-JP"/>
        </a:p>
      </c:txPr>
    </c:legend>
    <c:plotVisOnly val="1"/>
    <c:dispBlanksAs val="gap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 sz="1800">
          <a:latin typeface="+mn-ea"/>
          <a:ea typeface="+mn-ea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回答数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回答数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1F4E79"/>
              </a:solidFill>
            </c:spPr>
            <c:extLst>
              <c:ext xmlns:c16="http://schemas.microsoft.com/office/drawing/2014/chart" uri="{C3380CC4-5D6E-409C-BE32-E72D297353CC}">
                <c16:uniqueId val="{00000001-4FC1-884C-AC9F-91809EBF635A}"/>
              </c:ext>
            </c:extLst>
          </c:dPt>
          <c:dPt>
            <c:idx val="1"/>
            <c:invertIfNegative val="1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3-4FC1-884C-AC9F-91809EBF635A}"/>
              </c:ext>
            </c:extLst>
          </c:dPt>
          <c:dPt>
            <c:idx val="2"/>
            <c:invertIfNegative val="1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4FC1-884C-AC9F-91809EBF635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latin typeface="游ゴシック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大変参考になった  (39.8%)</c:v>
                </c:pt>
                <c:pt idx="1">
                  <c:v>参考になった  (53.0%)</c:v>
                </c:pt>
                <c:pt idx="2">
                  <c:v>どちらでもない  (7.2%)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44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FC1-884C-AC9F-91809EBF635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游ゴシック"/>
              </a:defRPr>
            </a:pPr>
            <a:endParaRPr lang="ja-JP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割合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</c:spPr>
            <c:extLst>
              <c:ext xmlns:c16="http://schemas.microsoft.com/office/drawing/2014/chart" uri="{C3380CC4-5D6E-409C-BE32-E72D297353CC}">
                <c16:uniqueId val="{00000001-6C79-6949-B973-5065B1A33576}"/>
              </c:ext>
            </c:extLst>
          </c:dPt>
          <c:dPt>
            <c:idx val="1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3-6C79-6949-B973-5065B1A33576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6C79-6949-B973-5065B1A3357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chemeClr val="bg1"/>
                    </a:solidFill>
                    <a:latin typeface="游ゴシック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大変参考になった</c:v>
                </c:pt>
                <c:pt idx="1">
                  <c:v>参考になった</c:v>
                </c:pt>
                <c:pt idx="2">
                  <c:v>どちらでもない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44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C79-6949-B973-5065B1A33576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b"/>
      <c:overlay val="1"/>
      <c:txPr>
        <a:bodyPr/>
        <a:lstStyle/>
        <a:p>
          <a:pPr>
            <a:defRPr sz="10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29488961365929267"/>
          <c:y val="6.519784783968241E-2"/>
          <c:w val="0.41022066584265493"/>
          <c:h val="0.81564734752698698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1-7023-4D4C-A7B2-55842A977684}"/>
              </c:ext>
            </c:extLst>
          </c:dPt>
          <c:dPt>
            <c:idx val="1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3-7023-4D4C-A7B2-55842A977684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7023-4D4C-A7B2-55842A977684}"/>
              </c:ext>
            </c:extLst>
          </c:dPt>
          <c:dPt>
            <c:idx val="3"/>
            <c:bubble3D val="0"/>
            <c:spPr>
              <a:solidFill>
                <a:srgbClr val="FF6B6B"/>
              </a:solidFill>
            </c:spPr>
            <c:extLst>
              <c:ext xmlns:c16="http://schemas.microsoft.com/office/drawing/2014/chart" uri="{C3380CC4-5D6E-409C-BE32-E72D297353CC}">
                <c16:uniqueId val="{00000007-7023-4D4C-A7B2-55842A9776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chemeClr val="bg1"/>
                    </a:solidFill>
                    <a:latin typeface="游ゴシック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株式会社NTTデータ</c:v>
                </c:pt>
                <c:pt idx="1">
                  <c:v>株式会社デンソーテン</c:v>
                </c:pt>
                <c:pt idx="2">
                  <c:v>LocationMind株式会社</c:v>
                </c:pt>
                <c:pt idx="3">
                  <c:v>株式会社GEOTRA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17</c:v>
                </c:pt>
                <c:pt idx="3">
                  <c:v>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023-4D4C-A7B2-55842A977684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b"/>
      <c:overlay val="1"/>
      <c:txPr>
        <a:bodyPr/>
        <a:lstStyle/>
        <a:p>
          <a:pPr>
            <a:defRPr sz="10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2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回答数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回答数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1F4E79"/>
              </a:solidFill>
            </c:spPr>
            <c:extLst>
              <c:ext xmlns:c16="http://schemas.microsoft.com/office/drawing/2014/chart" uri="{C3380CC4-5D6E-409C-BE32-E72D297353CC}">
                <c16:uniqueId val="{00000001-A20F-FC43-B4B4-97B5B1AC5DE7}"/>
              </c:ext>
            </c:extLst>
          </c:dPt>
          <c:dPt>
            <c:idx val="1"/>
            <c:invertIfNegative val="1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3-A20F-FC43-B4B4-97B5B1AC5DE7}"/>
              </c:ext>
            </c:extLst>
          </c:dPt>
          <c:dPt>
            <c:idx val="2"/>
            <c:invertIfNegative val="1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A20F-FC43-B4B4-97B5B1AC5DE7}"/>
              </c:ext>
            </c:extLst>
          </c:dPt>
          <c:dPt>
            <c:idx val="3"/>
            <c:invertIfNegative val="1"/>
            <c:bubble3D val="0"/>
            <c:spPr>
              <a:solidFill>
                <a:srgbClr val="FF6B6B"/>
              </a:solidFill>
            </c:spPr>
            <c:extLst>
              <c:ext xmlns:c16="http://schemas.microsoft.com/office/drawing/2014/chart" uri="{C3380CC4-5D6E-409C-BE32-E72D297353CC}">
                <c16:uniqueId val="{00000007-A20F-FC43-B4B4-97B5B1AC5DE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latin typeface="游ゴシック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大変参考になった  (36.1%)</c:v>
                </c:pt>
                <c:pt idx="1">
                  <c:v>参考になった  (47.0%)</c:v>
                </c:pt>
                <c:pt idx="2">
                  <c:v>どちらでもない  (15.7%)</c:v>
                </c:pt>
                <c:pt idx="3">
                  <c:v>参考にならなかった  (1.2%)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39</c:v>
                </c:pt>
                <c:pt idx="2">
                  <c:v>13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20F-FC43-B4B4-97B5B1AC5DE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游ゴシック"/>
              </a:defRPr>
            </a:pPr>
            <a:endParaRPr lang="ja-JP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2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割合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11397643227668"/>
          <c:y val="0.12949520930200942"/>
          <c:w val="0.77720493573913663"/>
          <c:h val="0.7430465627294232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bubble3D val="0"/>
            <c:spPr>
              <a:solidFill>
                <a:srgbClr val="1F4E79"/>
              </a:solidFill>
            </c:spPr>
            <c:extLst>
              <c:ext xmlns:c16="http://schemas.microsoft.com/office/drawing/2014/chart" uri="{C3380CC4-5D6E-409C-BE32-E72D297353CC}">
                <c16:uniqueId val="{00000001-EA01-EF41-8C01-E3F48EE7201E}"/>
              </c:ext>
            </c:extLst>
          </c:dPt>
          <c:dPt>
            <c:idx val="1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3-EA01-EF41-8C01-E3F48EE7201E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EA01-EF41-8C01-E3F48EE7201E}"/>
              </c:ext>
            </c:extLst>
          </c:dPt>
          <c:dPt>
            <c:idx val="3"/>
            <c:bubble3D val="0"/>
            <c:spPr>
              <a:solidFill>
                <a:srgbClr val="FF6B6B"/>
              </a:solidFill>
            </c:spPr>
            <c:extLst>
              <c:ext xmlns:c16="http://schemas.microsoft.com/office/drawing/2014/chart" uri="{C3380CC4-5D6E-409C-BE32-E72D297353CC}">
                <c16:uniqueId val="{00000007-EA01-EF41-8C01-E3F48EE7201E}"/>
              </c:ext>
            </c:extLst>
          </c:dPt>
          <c:dLbls>
            <c:dLbl>
              <c:idx val="3"/>
              <c:layout>
                <c:manualLayout>
                  <c:x val="2.574789548505224E-3"/>
                  <c:y val="8.7845961810370618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A01-EF41-8C01-E3F48EE7201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chemeClr val="bg1"/>
                    </a:solidFill>
                    <a:latin typeface="游ゴシック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大変参考になった</c:v>
                </c:pt>
                <c:pt idx="1">
                  <c:v>参考になった</c:v>
                </c:pt>
                <c:pt idx="2">
                  <c:v>どちらでもない</c:v>
                </c:pt>
                <c:pt idx="3">
                  <c:v>参考にならなかった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39</c:v>
                </c:pt>
                <c:pt idx="2">
                  <c:v>13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A01-EF41-8C01-E3F48EE7201E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b"/>
      <c:overlay val="1"/>
      <c:txPr>
        <a:bodyPr/>
        <a:lstStyle/>
        <a:p>
          <a:pPr>
            <a:defRPr sz="10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2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867142399739766"/>
          <c:y val="7.3339470217594876E-2"/>
          <c:w val="0.42657152005204685"/>
          <c:h val="0.81564734752698698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1-0DB4-3341-B4BE-51EB6BEF6854}"/>
              </c:ext>
            </c:extLst>
          </c:dPt>
          <c:dPt>
            <c:idx val="1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3-0DB4-3341-B4BE-51EB6BEF6854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0DB4-3341-B4BE-51EB6BEF6854}"/>
              </c:ext>
            </c:extLst>
          </c:dPt>
          <c:dPt>
            <c:idx val="3"/>
            <c:bubble3D val="0"/>
            <c:spPr>
              <a:solidFill>
                <a:srgbClr val="FF6B6B"/>
              </a:solidFill>
            </c:spPr>
            <c:extLst>
              <c:ext xmlns:c16="http://schemas.microsoft.com/office/drawing/2014/chart" uri="{C3380CC4-5D6E-409C-BE32-E72D297353CC}">
                <c16:uniqueId val="{00000007-0DB4-3341-B4BE-51EB6BEF685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chemeClr val="bg1"/>
                    </a:solidFill>
                    <a:latin typeface="游ゴシック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現在、モビリティデータの活用の可否について検討中</c:v>
                </c:pt>
                <c:pt idx="1">
                  <c:v>既にモビリティデータの活用を進めている</c:v>
                </c:pt>
                <c:pt idx="2">
                  <c:v>現在、モビリティデータの活用の準備中</c:v>
                </c:pt>
                <c:pt idx="3">
                  <c:v>特に検討はしていない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30</c:v>
                </c:pt>
                <c:pt idx="2">
                  <c:v>11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DB4-3341-B4BE-51EB6BEF6854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b"/>
      <c:layout>
        <c:manualLayout>
          <c:xMode val="edge"/>
          <c:yMode val="edge"/>
          <c:x val="9.847834593138681E-2"/>
          <c:y val="0.88668878061167811"/>
          <c:w val="0.80022143896219222"/>
          <c:h val="9.0635167521069093E-2"/>
        </c:manualLayout>
      </c:layout>
      <c:overlay val="1"/>
      <c:txPr>
        <a:bodyPr/>
        <a:lstStyle/>
        <a:p>
          <a:pPr>
            <a:defRPr sz="10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回答数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回答数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1-1B9C-994F-B4B6-A753BDB04109}"/>
              </c:ext>
            </c:extLst>
          </c:dPt>
          <c:dPt>
            <c:idx val="1"/>
            <c:invertIfNegative val="1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3-1B9C-994F-B4B6-A753BDB04109}"/>
              </c:ext>
            </c:extLst>
          </c:dPt>
          <c:dPt>
            <c:idx val="2"/>
            <c:invertIfNegative val="1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1B9C-994F-B4B6-A753BDB04109}"/>
              </c:ext>
            </c:extLst>
          </c:dPt>
          <c:dPt>
            <c:idx val="3"/>
            <c:invertIfNegative val="1"/>
            <c:bubble3D val="0"/>
            <c:spPr>
              <a:solidFill>
                <a:srgbClr val="FF6B6B"/>
              </a:solidFill>
            </c:spPr>
            <c:extLst>
              <c:ext xmlns:c16="http://schemas.microsoft.com/office/drawing/2014/chart" uri="{C3380CC4-5D6E-409C-BE32-E72D297353CC}">
                <c16:uniqueId val="{00000007-1B9C-994F-B4B6-A753BDB0410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latin typeface="游ゴシック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特に希望しない  (47.0%)</c:v>
                </c:pt>
                <c:pt idx="1">
                  <c:v>時期を見て相談したい  (30.1%)</c:v>
                </c:pt>
                <c:pt idx="2">
                  <c:v>その他  (14.5%)</c:v>
                </c:pt>
                <c:pt idx="3">
                  <c:v>意見交換を行いたい  (8.4%)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25</c:v>
                </c:pt>
                <c:pt idx="2">
                  <c:v>12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B9C-994F-B4B6-A753BDB041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游ゴシック"/>
              </a:defRPr>
            </a:pPr>
            <a:endParaRPr lang="ja-JP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割合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11397643227668"/>
          <c:y val="0.12949520930200942"/>
          <c:w val="0.77720493573913663"/>
          <c:h val="0.7430465627294232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1-C831-6244-ADB7-FA0319811B93}"/>
              </c:ext>
            </c:extLst>
          </c:dPt>
          <c:dPt>
            <c:idx val="1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3-C831-6244-ADB7-FA0319811B93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</c:spPr>
            <c:extLst>
              <c:ext xmlns:c16="http://schemas.microsoft.com/office/drawing/2014/chart" uri="{C3380CC4-5D6E-409C-BE32-E72D297353CC}">
                <c16:uniqueId val="{00000005-C831-6244-ADB7-FA0319811B93}"/>
              </c:ext>
            </c:extLst>
          </c:dPt>
          <c:dPt>
            <c:idx val="3"/>
            <c:bubble3D val="0"/>
            <c:spPr>
              <a:solidFill>
                <a:srgbClr val="FF6B6B"/>
              </a:solidFill>
            </c:spPr>
            <c:extLst>
              <c:ext xmlns:c16="http://schemas.microsoft.com/office/drawing/2014/chart" uri="{C3380CC4-5D6E-409C-BE32-E72D297353CC}">
                <c16:uniqueId val="{00000007-C831-6244-ADB7-FA0319811B9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chemeClr val="bg1"/>
                    </a:solidFill>
                    <a:latin typeface="游ゴシック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特に希望しない</c:v>
                </c:pt>
                <c:pt idx="1">
                  <c:v>時期を見て相談したい</c:v>
                </c:pt>
                <c:pt idx="2">
                  <c:v>その他</c:v>
                </c:pt>
                <c:pt idx="3">
                  <c:v>意見交換を行いたい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39</c:v>
                </c:pt>
                <c:pt idx="1">
                  <c:v>25</c:v>
                </c:pt>
                <c:pt idx="2">
                  <c:v>12</c:v>
                </c:pt>
                <c:pt idx="3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831-6244-ADB7-FA0319811B93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b"/>
      <c:overlay val="1"/>
      <c:txPr>
        <a:bodyPr/>
        <a:lstStyle/>
        <a:p>
          <a:pPr>
            <a:defRPr sz="10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回答数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游ゴシック"/>
              </a:defRPr>
            </a:pPr>
            <a:endParaRPr lang="ja-JP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2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割合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割合</c:v>
                </c:pt>
              </c:strCache>
            </c:strRef>
          </c:tx>
          <c:dPt>
            <c:idx val="0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1-5478-F641-B09E-FA62CA7D03B7}"/>
              </c:ext>
            </c:extLst>
          </c:dPt>
          <c:dPt>
            <c:idx val="1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3-5478-F641-B09E-FA62CA7D03B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latin typeface="游ゴシック"/>
                  </a:defRPr>
                </a:pPr>
                <a:endParaRPr lang="ja-JP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いいえ</c:v>
                </c:pt>
                <c:pt idx="1">
                  <c:v>はい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</c:v>
                </c:pt>
                <c:pt idx="1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478-F641-B09E-FA62CA7D03B7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</c:plotArea>
    <c:legend>
      <c:legendPos val="b"/>
      <c:overlay val="1"/>
      <c:txPr>
        <a:bodyPr/>
        <a:lstStyle/>
        <a:p>
          <a:pPr>
            <a:defRPr sz="1000">
              <a:latin typeface="游ゴシック"/>
            </a:defRPr>
          </a:pPr>
          <a:endParaRPr lang="ja-JP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>
                <a:latin typeface="游ゴシック"/>
              </a:defRPr>
            </a:pPr>
            <a:r>
              <a:rPr lang="ja-JP" altLang="en-US"/>
              <a:t>回答数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回答数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2E75B6"/>
              </a:solidFill>
            </c:spPr>
            <c:extLst>
              <c:ext xmlns:c16="http://schemas.microsoft.com/office/drawing/2014/chart" uri="{C3380CC4-5D6E-409C-BE32-E72D297353CC}">
                <c16:uniqueId val="{00000001-0A29-2841-A90E-A420AC781F2F}"/>
              </c:ext>
            </c:extLst>
          </c:dPt>
          <c:dPt>
            <c:idx val="1"/>
            <c:invertIfNegative val="1"/>
            <c:bubble3D val="0"/>
            <c:spPr>
              <a:solidFill>
                <a:srgbClr val="70AD47"/>
              </a:solidFill>
            </c:spPr>
            <c:extLst>
              <c:ext xmlns:c16="http://schemas.microsoft.com/office/drawing/2014/chart" uri="{C3380CC4-5D6E-409C-BE32-E72D297353CC}">
                <c16:uniqueId val="{00000003-0A29-2841-A90E-A420AC781F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latin typeface="游ゴシック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いいえ  (77.1%)</c:v>
                </c:pt>
                <c:pt idx="1">
                  <c:v>はい  (22.9%)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64</c:v>
                </c:pt>
                <c:pt idx="1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A29-2841-A90E-A420AC781F2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游ゴシック"/>
              </a:defRPr>
            </a:pPr>
            <a:endParaRPr lang="ja-JP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游ゴシック"/>
              </a:defRPr>
            </a:pPr>
            <a:endParaRPr lang="ja-JP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F3ED38F-E442-F242-93BF-954EAF22C44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1"/>
            <a:ext cx="2918831" cy="495029"/>
          </a:xfrm>
          <a:prstGeom prst="rect">
            <a:avLst/>
          </a:prstGeom>
        </p:spPr>
        <p:txBody>
          <a:bodyPr vert="horz" lIns="91434" tIns="45717" rIns="91434" bIns="45717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F964AC5-B44F-B44D-A081-2C5E2E9FCE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4" y="1"/>
            <a:ext cx="2918831" cy="495029"/>
          </a:xfrm>
          <a:prstGeom prst="rect">
            <a:avLst/>
          </a:prstGeom>
        </p:spPr>
        <p:txBody>
          <a:bodyPr vert="horz" lIns="91434" tIns="45717" rIns="91434" bIns="45717" rtlCol="0"/>
          <a:lstStyle>
            <a:lvl1pPr algn="r">
              <a:defRPr sz="1200"/>
            </a:lvl1pPr>
          </a:lstStyle>
          <a:p>
            <a:fld id="{FDCF1C0F-BDE8-1B4D-B791-EE3DE389992E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AF1615B-FEFA-F64E-8469-1D148A4EC7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371286"/>
            <a:ext cx="2918831" cy="495028"/>
          </a:xfrm>
          <a:prstGeom prst="rect">
            <a:avLst/>
          </a:prstGeom>
        </p:spPr>
        <p:txBody>
          <a:bodyPr vert="horz" lIns="91434" tIns="45717" rIns="91434" bIns="45717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4D1739B-F8E5-F64E-AF0C-8D10A8E991C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4" y="9371286"/>
            <a:ext cx="2918831" cy="495028"/>
          </a:xfrm>
          <a:prstGeom prst="rect">
            <a:avLst/>
          </a:prstGeom>
        </p:spPr>
        <p:txBody>
          <a:bodyPr vert="horz" lIns="91434" tIns="45717" rIns="91434" bIns="45717" rtlCol="0" anchor="b"/>
          <a:lstStyle>
            <a:lvl1pPr algn="r">
              <a:defRPr sz="1200"/>
            </a:lvl1pPr>
          </a:lstStyle>
          <a:p>
            <a:fld id="{41AFA831-1A6F-C54A-A579-C1F61DFC50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82198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3107" userDrawn="1">
          <p15:clr>
            <a:srgbClr val="F26B43"/>
          </p15:clr>
        </p15:guide>
        <p15:guide id="2" pos="2121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18831" cy="495029"/>
          </a:xfrm>
          <a:prstGeom prst="rect">
            <a:avLst/>
          </a:prstGeom>
        </p:spPr>
        <p:txBody>
          <a:bodyPr vert="horz" lIns="91434" tIns="45717" rIns="91434" bIns="45717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4" y="1"/>
            <a:ext cx="2918831" cy="495029"/>
          </a:xfrm>
          <a:prstGeom prst="rect">
            <a:avLst/>
          </a:prstGeom>
        </p:spPr>
        <p:txBody>
          <a:bodyPr vert="horz" lIns="91434" tIns="45717" rIns="91434" bIns="45717" rtlCol="0"/>
          <a:lstStyle>
            <a:lvl1pPr algn="r">
              <a:defRPr sz="1200"/>
            </a:lvl1pPr>
          </a:lstStyle>
          <a:p>
            <a:fld id="{95C7B2B8-897D-B54B-8CE3-CF87C61C3945}" type="datetimeFigureOut">
              <a:rPr kumimoji="1" lang="ja-JP" altLang="en-US" smtClean="0"/>
              <a:t>2026/4/4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4" tIns="45717" rIns="91434" bIns="45717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4"/>
            <a:ext cx="5388610" cy="3884861"/>
          </a:xfrm>
          <a:prstGeom prst="rect">
            <a:avLst/>
          </a:prstGeom>
        </p:spPr>
        <p:txBody>
          <a:bodyPr vert="horz" lIns="91434" tIns="45717" rIns="91434" bIns="45717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371286"/>
            <a:ext cx="2918831" cy="495028"/>
          </a:xfrm>
          <a:prstGeom prst="rect">
            <a:avLst/>
          </a:prstGeom>
        </p:spPr>
        <p:txBody>
          <a:bodyPr vert="horz" lIns="91434" tIns="45717" rIns="91434" bIns="45717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4" y="9371286"/>
            <a:ext cx="2918831" cy="495028"/>
          </a:xfrm>
          <a:prstGeom prst="rect">
            <a:avLst/>
          </a:prstGeom>
        </p:spPr>
        <p:txBody>
          <a:bodyPr vert="horz" lIns="91434" tIns="45717" rIns="91434" bIns="45717" rtlCol="0" anchor="b"/>
          <a:lstStyle>
            <a:lvl1pPr algn="r">
              <a:defRPr sz="1200"/>
            </a:lvl1pPr>
          </a:lstStyle>
          <a:p>
            <a:fld id="{7A0268BC-E360-5A49-95B6-B56C380D750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26058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 txBox="1">
            <a:spLocks noGrp="1"/>
          </p:cNvSpPr>
          <p:nvPr>
            <p:ph type="body" idx="1"/>
          </p:nvPr>
        </p:nvSpPr>
        <p:spPr>
          <a:xfrm>
            <a:off x="673577" y="4748164"/>
            <a:ext cx="5388610" cy="3884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>
              <a:latin typeface="MS PGothic"/>
              <a:ea typeface="MS PGothic"/>
              <a:cs typeface="MS PGothic"/>
              <a:sym typeface="MS PGothic"/>
            </a:endParaRPr>
          </a:p>
        </p:txBody>
      </p:sp>
      <p:sp>
        <p:nvSpPr>
          <p:cNvPr id="49" name="Google Shape;4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88849693-FD16-A340-9C6C-0493B8E04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29887" y="469787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 i="0">
                <a:solidFill>
                  <a:srgbClr val="00295F"/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fld id="{115EB66E-540F-0B43-A95A-8DC174F65664}" type="datetime4">
              <a:rPr kumimoji="1" lang="ja-JP" altLang="en-US" smtClean="0"/>
              <a:t>2026年4月4日</a:t>
            </a:fld>
            <a:endParaRPr kumimoji="1" lang="ja-JP" altLang="en-US" dirty="0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00F83245-BA19-411D-B58E-53607FDF4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57637" y="2601644"/>
            <a:ext cx="6660000" cy="262800"/>
          </a:xfrm>
          <a:prstGeom prst="rect">
            <a:avLst/>
          </a:prstGeom>
        </p:spPr>
        <p:txBody>
          <a:bodyPr/>
          <a:lstStyle>
            <a:lvl1pPr>
              <a:defRPr sz="1600"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en-US" altLang="ja-JP" dirty="0"/>
              <a:t>(</a:t>
            </a:r>
            <a:r>
              <a:rPr lang="ja-JP" altLang="en-US" dirty="0"/>
              <a:t>クライアント名</a:t>
            </a:r>
            <a:r>
              <a:rPr lang="en-US" altLang="ja-JP" dirty="0"/>
              <a:t>)  </a:t>
            </a:r>
            <a:r>
              <a:rPr lang="ja-JP" altLang="en-US" dirty="0"/>
              <a:t>御中</a:t>
            </a:r>
          </a:p>
        </p:txBody>
      </p:sp>
      <p:sp>
        <p:nvSpPr>
          <p:cNvPr id="13" name="テキスト プレースホルダー 12">
            <a:extLst>
              <a:ext uri="{FF2B5EF4-FFF2-40B4-BE49-F238E27FC236}">
                <a16:creationId xmlns:a16="http://schemas.microsoft.com/office/drawing/2014/main" id="{593A4D57-B7B2-4116-BD9C-9F2B2B1F72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7637" y="2967529"/>
            <a:ext cx="6660000" cy="460800"/>
          </a:xfrm>
          <a:prstGeom prst="rect">
            <a:avLst/>
          </a:prstGeom>
        </p:spPr>
        <p:txBody>
          <a:bodyPr/>
          <a:lstStyle>
            <a:lvl1pPr>
              <a:defRPr sz="3000" b="1">
                <a:solidFill>
                  <a:srgbClr val="15608C"/>
                </a:solidFill>
                <a:latin typeface="+mn-ea"/>
                <a:ea typeface="+mn-ea"/>
              </a:defRPr>
            </a:lvl1pPr>
          </a:lstStyle>
          <a:p>
            <a:r>
              <a:rPr lang="en-US" altLang="ja-JP" b="1" dirty="0">
                <a:solidFill>
                  <a:srgbClr val="15608C"/>
                </a:solidFill>
                <a:latin typeface="Noto Sans CJK JP Bold" panose="020B0500000000000000" pitchFamily="34" charset="-128"/>
                <a:ea typeface="Noto Sans CJK JP Bold" panose="020B0500000000000000" pitchFamily="34" charset="-128"/>
              </a:rPr>
              <a:t>(</a:t>
            </a:r>
            <a:r>
              <a:rPr lang="ja-JP" altLang="en-US" b="1" dirty="0">
                <a:solidFill>
                  <a:srgbClr val="15608C"/>
                </a:solidFill>
                <a:latin typeface="Noto Sans CJK JP Bold" panose="020B0500000000000000" pitchFamily="34" charset="-128"/>
                <a:ea typeface="Noto Sans CJK JP Bold" panose="020B0500000000000000" pitchFamily="34" charset="-128"/>
              </a:rPr>
              <a:t>案件名</a:t>
            </a:r>
            <a:r>
              <a:rPr lang="en-US" altLang="ja-JP" b="1" dirty="0">
                <a:solidFill>
                  <a:srgbClr val="15608C"/>
                </a:solidFill>
                <a:latin typeface="Noto Sans CJK JP Bold" panose="020B0500000000000000" pitchFamily="34" charset="-128"/>
                <a:ea typeface="Noto Sans CJK JP Bold" panose="020B0500000000000000" pitchFamily="34" charset="-128"/>
              </a:rPr>
              <a:t>)</a:t>
            </a:r>
          </a:p>
        </p:txBody>
      </p:sp>
      <p:sp>
        <p:nvSpPr>
          <p:cNvPr id="15" name="テキスト プレースホルダー 14">
            <a:extLst>
              <a:ext uri="{FF2B5EF4-FFF2-40B4-BE49-F238E27FC236}">
                <a16:creationId xmlns:a16="http://schemas.microsoft.com/office/drawing/2014/main" id="{0A30041F-4E6F-4C7C-86F0-F170E67D61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7637" y="3561311"/>
            <a:ext cx="6660000" cy="288000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r>
              <a:rPr lang="en-US" altLang="ja-JP" sz="1800" dirty="0">
                <a:solidFill>
                  <a:srgbClr val="548CAD"/>
                </a:solidFill>
              </a:rPr>
              <a:t>(</a:t>
            </a:r>
            <a:r>
              <a:rPr lang="ja-JP" altLang="en-US" sz="1800" dirty="0">
                <a:solidFill>
                  <a:srgbClr val="548CAD"/>
                </a:solidFill>
              </a:rPr>
              <a:t>資料の種類：企画書・提案書</a:t>
            </a:r>
            <a:r>
              <a:rPr lang="en-US" altLang="ja-JP" sz="1800" dirty="0">
                <a:solidFill>
                  <a:srgbClr val="548CAD"/>
                </a:solidFill>
              </a:rPr>
              <a:t>) </a:t>
            </a:r>
            <a:endParaRPr lang="ja-JP" altLang="en-US" sz="1800" dirty="0">
              <a:solidFill>
                <a:srgbClr val="548CAD"/>
              </a:solidFill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7DEED3B-86DF-DD64-9A80-F72FB98830C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489700"/>
            <a:ext cx="9906000" cy="3683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CC3FB971-88D6-D4CB-A546-DE0B48F5DFA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13721" y="6618947"/>
            <a:ext cx="1943100" cy="10160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954A3CF-0E20-B3DC-B924-1B0563579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0899" y="6492875"/>
            <a:ext cx="609282" cy="365125"/>
          </a:xfrm>
          <a:prstGeom prst="rect">
            <a:avLst/>
          </a:prstGeom>
        </p:spPr>
        <p:txBody>
          <a:bodyPr/>
          <a:lstStyle>
            <a:lvl1pPr algn="r">
              <a:defRPr sz="1200" b="0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fld id="{79CA93EA-E741-6147-A020-AC21E298E377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28082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FC38CCF-DF17-614A-9561-A482D013E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0899" y="6492875"/>
            <a:ext cx="609282" cy="365125"/>
          </a:xfrm>
          <a:prstGeom prst="rect">
            <a:avLst/>
          </a:prstGeom>
        </p:spPr>
        <p:txBody>
          <a:bodyPr/>
          <a:lstStyle>
            <a:lvl1pPr algn="r">
              <a:defRPr sz="1200" b="0" i="0">
                <a:solidFill>
                  <a:schemeClr val="bg1"/>
                </a:solidFill>
                <a:latin typeface="Noto Sans CJK JP Medium" panose="020B0500000000000000" pitchFamily="34" charset="-128"/>
                <a:ea typeface="Noto Sans CJK JP Medium" panose="020B0500000000000000" pitchFamily="34" charset="-128"/>
              </a:defRPr>
            </a:lvl1pPr>
          </a:lstStyle>
          <a:p>
            <a:fld id="{79CA93EA-E741-6147-A020-AC21E298E377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1F7756B-71F5-A341-8F69-F83004A21767}"/>
              </a:ext>
            </a:extLst>
          </p:cNvPr>
          <p:cNvSpPr/>
          <p:nvPr userDrawn="1"/>
        </p:nvSpPr>
        <p:spPr>
          <a:xfrm>
            <a:off x="452438" y="373044"/>
            <a:ext cx="137444" cy="371160"/>
          </a:xfrm>
          <a:prstGeom prst="rect">
            <a:avLst/>
          </a:prstGeom>
          <a:solidFill>
            <a:srgbClr val="156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2B84DE-00A9-DA44-AAFE-ABF9DFBA3A1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882" y="383841"/>
            <a:ext cx="8863681" cy="3711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rgbClr val="15608C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kumimoji="1" lang="ja-JP" altLang="en-US" dirty="0"/>
              <a:t>タイトル</a:t>
            </a:r>
            <a:r>
              <a:rPr kumimoji="1" lang="en-US" altLang="ja-JP" dirty="0"/>
              <a:t>(</a:t>
            </a:r>
            <a:r>
              <a:rPr kumimoji="1" lang="ja-JP" altLang="en-US" dirty="0"/>
              <a:t>論点・問い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16" name="コンテンツ プレースホルダー 15">
            <a:extLst>
              <a:ext uri="{FF2B5EF4-FFF2-40B4-BE49-F238E27FC236}">
                <a16:creationId xmlns:a16="http://schemas.microsoft.com/office/drawing/2014/main" id="{7F89C17A-5E91-AC46-80DB-904D3FCABF8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2438" y="908050"/>
            <a:ext cx="9001125" cy="678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>
                <a:solidFill>
                  <a:srgbClr val="00295F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メッセージ</a:t>
            </a:r>
            <a:r>
              <a:rPr kumimoji="1" lang="en-US" altLang="ja-JP" dirty="0"/>
              <a:t>(</a:t>
            </a:r>
            <a:r>
              <a:rPr kumimoji="1" lang="ja-JP" altLang="en-US"/>
              <a:t>問いに対する回答。）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B211E0A-0E93-294B-8024-91B77B11FB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437" y="6248400"/>
            <a:ext cx="9001125" cy="4889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游ゴシック" panose="020B0400000000000000" pitchFamily="50" charset="-128"/>
                <a:ea typeface="游ゴシック" panose="020B0400000000000000" pitchFamily="50" charset="-128"/>
              </a:defRPr>
            </a:lvl1pPr>
          </a:lstStyle>
          <a:p>
            <a:pPr lvl="0"/>
            <a:r>
              <a:rPr kumimoji="1" lang="ja-JP" altLang="en-US" dirty="0"/>
              <a:t>出所：組織名「資料名」出版年月　</a:t>
            </a:r>
            <a:r>
              <a:rPr kumimoji="1" lang="en-US" altLang="ja-JP" dirty="0"/>
              <a:t>URL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53945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FC38CCF-DF17-614A-9561-A482D013E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0899" y="6492875"/>
            <a:ext cx="609282" cy="365125"/>
          </a:xfrm>
          <a:prstGeom prst="rect">
            <a:avLst/>
          </a:prstGeom>
        </p:spPr>
        <p:txBody>
          <a:bodyPr/>
          <a:lstStyle>
            <a:lvl1pPr algn="r">
              <a:defRPr sz="1200" b="0" i="0">
                <a:solidFill>
                  <a:schemeClr val="bg1"/>
                </a:solidFill>
                <a:latin typeface="Noto Sans CJK JP Medium" panose="020B0500000000000000" pitchFamily="34" charset="-128"/>
                <a:ea typeface="Noto Sans CJK JP Medium" panose="020B0500000000000000" pitchFamily="34" charset="-128"/>
              </a:defRPr>
            </a:lvl1pPr>
          </a:lstStyle>
          <a:p>
            <a:fld id="{79CA93EA-E741-6147-A020-AC21E298E377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1F7756B-71F5-A341-8F69-F83004A21767}"/>
              </a:ext>
            </a:extLst>
          </p:cNvPr>
          <p:cNvSpPr/>
          <p:nvPr userDrawn="1"/>
        </p:nvSpPr>
        <p:spPr>
          <a:xfrm>
            <a:off x="452438" y="373044"/>
            <a:ext cx="137444" cy="371160"/>
          </a:xfrm>
          <a:prstGeom prst="rect">
            <a:avLst/>
          </a:prstGeom>
          <a:solidFill>
            <a:srgbClr val="156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72B84DE-00A9-DA44-AAFE-ABF9DFBA3A1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882" y="383841"/>
            <a:ext cx="8863681" cy="3711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rgbClr val="15608C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本日の議題</a:t>
            </a:r>
          </a:p>
        </p:txBody>
      </p:sp>
      <p:sp>
        <p:nvSpPr>
          <p:cNvPr id="16" name="コンテンツ プレースホルダー 15">
            <a:extLst>
              <a:ext uri="{FF2B5EF4-FFF2-40B4-BE49-F238E27FC236}">
                <a16:creationId xmlns:a16="http://schemas.microsoft.com/office/drawing/2014/main" id="{7F89C17A-5E91-AC46-80DB-904D3FCABF8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52438" y="1665289"/>
            <a:ext cx="9001125" cy="2977116"/>
          </a:xfrm>
          <a:prstGeom prst="rect">
            <a:avLst/>
          </a:prstGeom>
        </p:spPr>
        <p:txBody>
          <a:bodyPr/>
          <a:lstStyle>
            <a:lvl1pPr marL="342900" marR="0" indent="-342900" algn="l" defTabSz="914400" rtl="0" eaLnBrk="1" fontAlgn="auto" latinLnBrk="0" hangingPunct="1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 sz="1800" b="0" i="0">
                <a:solidFill>
                  <a:srgbClr val="00295F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〇〇</a:t>
            </a:r>
            <a:endParaRPr kumimoji="1" lang="en-US" altLang="ja-JP" dirty="0"/>
          </a:p>
          <a:p>
            <a:pPr lvl="0"/>
            <a:r>
              <a:rPr kumimoji="1" lang="ja-JP" altLang="en-US"/>
              <a:t>〇〇</a:t>
            </a:r>
            <a:endParaRPr kumimoji="1" lang="en-US" altLang="ja-JP" dirty="0"/>
          </a:p>
          <a:p>
            <a:pPr lvl="0"/>
            <a:r>
              <a:rPr kumimoji="1" lang="ja-JP" altLang="en-US"/>
              <a:t>〇〇</a:t>
            </a:r>
            <a:endParaRPr kumimoji="1" lang="en-US" altLang="ja-JP" dirty="0"/>
          </a:p>
          <a:p>
            <a:pPr lvl="0"/>
            <a:r>
              <a:rPr kumimoji="1" lang="ja-JP" altLang="en-US"/>
              <a:t>〇〇</a:t>
            </a:r>
            <a:endParaRPr kumimoji="1" lang="en-US" altLang="ja-JP" dirty="0"/>
          </a:p>
          <a:p>
            <a:pPr lvl="0"/>
            <a:r>
              <a:rPr kumimoji="1" lang="ja-JP" altLang="en-US"/>
              <a:t>〇〇</a:t>
            </a:r>
            <a:endParaRPr kumimoji="1" lang="en-US" altLang="ja-JP" dirty="0"/>
          </a:p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646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A7C7DDF9-B6D4-2D48-B03B-82EE4A8CC6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13721" y="6502400"/>
            <a:ext cx="1943100" cy="101600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FC38CCF-DF17-614A-9561-A482D013E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41410" y="6390642"/>
            <a:ext cx="609282" cy="365125"/>
          </a:xfrm>
          <a:prstGeom prst="rect">
            <a:avLst/>
          </a:prstGeom>
        </p:spPr>
        <p:txBody>
          <a:bodyPr/>
          <a:lstStyle>
            <a:lvl1pPr algn="r">
              <a:defRPr sz="1200" b="0" i="0">
                <a:solidFill>
                  <a:schemeClr val="bg1"/>
                </a:solidFill>
                <a:latin typeface="Noto Sans CJK JP Medium" panose="020B0500000000000000" pitchFamily="34" charset="-128"/>
                <a:ea typeface="Noto Sans CJK JP Medium" panose="020B0500000000000000" pitchFamily="34" charset="-128"/>
              </a:defRPr>
            </a:lvl1pPr>
          </a:lstStyle>
          <a:p>
            <a:fld id="{79CA93EA-E741-6147-A020-AC21E298E377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A99AB7D-0C4F-6E41-8277-2C4AA4B0DFC5}"/>
              </a:ext>
            </a:extLst>
          </p:cNvPr>
          <p:cNvSpPr/>
          <p:nvPr userDrawn="1"/>
        </p:nvSpPr>
        <p:spPr>
          <a:xfrm>
            <a:off x="452438" y="3248818"/>
            <a:ext cx="125412" cy="360363"/>
          </a:xfrm>
          <a:prstGeom prst="rect">
            <a:avLst/>
          </a:prstGeom>
          <a:solidFill>
            <a:srgbClr val="156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游ゴシック" panose="020B0400000000000000" pitchFamily="50" charset="-128"/>
              <a:ea typeface="游ゴシック" panose="020B0400000000000000" pitchFamily="50" charset="-128"/>
            </a:endParaRP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2E8112DA-3663-6643-ADCD-68B5CFAD7D6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882" y="3243419"/>
            <a:ext cx="8863681" cy="37116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 b="0" i="0">
                <a:solidFill>
                  <a:srgbClr val="15608C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781136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BE306C5B-B65D-D84C-902A-616DC79AE8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9392"/>
            <a:ext cx="9906000" cy="6957392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852C55E-3314-779F-8831-0901F3D13C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0899" y="6492875"/>
            <a:ext cx="609282" cy="365125"/>
          </a:xfrm>
          <a:prstGeom prst="rect">
            <a:avLst/>
          </a:prstGeom>
        </p:spPr>
        <p:txBody>
          <a:bodyPr/>
          <a:lstStyle>
            <a:lvl1pPr algn="r">
              <a:defRPr sz="1200" b="0" i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fld id="{79CA93EA-E741-6147-A020-AC21E298E377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B88BEF-410A-4A3E-7711-2A9C496E47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13721" y="6618947"/>
            <a:ext cx="1943100" cy="101600"/>
          </a:xfrm>
          <a:prstGeom prst="rect">
            <a:avLst/>
          </a:prstGeom>
        </p:spPr>
      </p:pic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C7E15BF9-F9D3-8AB3-A6B4-AEA47F05609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589882" y="3243419"/>
            <a:ext cx="8863681" cy="37116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 b="0" i="0">
                <a:solidFill>
                  <a:srgbClr val="15608C"/>
                </a:solidFill>
                <a:latin typeface="Yu Gothic" panose="020B0400000000000000" pitchFamily="34" charset="-128"/>
                <a:ea typeface="Yu Gothic" panose="020B0400000000000000" pitchFamily="34" charset="-128"/>
              </a:defRPr>
            </a:lvl1pPr>
          </a:lstStyle>
          <a:p>
            <a:pPr lvl="0"/>
            <a:r>
              <a:rPr kumimoji="1" lang="ja-JP" altLang="en-US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6405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 スライド">
  <p:cSld name="2_タイトル スライド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 txBox="1">
            <a:spLocks noGrp="1"/>
          </p:cNvSpPr>
          <p:nvPr>
            <p:ph type="sldNum" idx="12"/>
          </p:nvPr>
        </p:nvSpPr>
        <p:spPr>
          <a:xfrm>
            <a:off x="8741410" y="6390642"/>
            <a:ext cx="60928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MS PGothic" panose="020B0600070205080204" pitchFamily="34" charset="-128"/>
                <a:ea typeface="MS PGothic" panose="020B0600070205080204" pitchFamily="34" charset="-128"/>
                <a:cs typeface="MS PGothic" panose="020B0600070205080204" pitchFamily="34" charset="-128"/>
                <a:sym typeface="Noto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Noto Sans Med"/>
                <a:ea typeface="Noto Sans Med"/>
                <a:cs typeface="Noto Sans Med"/>
                <a:sym typeface="Noto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Noto Sans Med"/>
                <a:ea typeface="Noto Sans Med"/>
                <a:cs typeface="Noto Sans Med"/>
                <a:sym typeface="Noto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Noto Sans Med"/>
                <a:ea typeface="Noto Sans Med"/>
                <a:cs typeface="Noto Sans Med"/>
                <a:sym typeface="Noto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Noto Sans Med"/>
                <a:ea typeface="Noto Sans Med"/>
                <a:cs typeface="Noto Sans Med"/>
                <a:sym typeface="Noto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Noto Sans Med"/>
                <a:ea typeface="Noto Sans Med"/>
                <a:cs typeface="Noto Sans Med"/>
                <a:sym typeface="Noto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Noto Sans Med"/>
                <a:ea typeface="Noto Sans Med"/>
                <a:cs typeface="Noto Sans Med"/>
                <a:sym typeface="Noto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Noto Sans Med"/>
                <a:ea typeface="Noto Sans Med"/>
                <a:cs typeface="Noto Sans Med"/>
                <a:sym typeface="Noto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Noto Sans Med"/>
                <a:ea typeface="Noto Sans Med"/>
                <a:cs typeface="Noto Sans Med"/>
                <a:sym typeface="Noto Sans Medium"/>
              </a:defRPr>
            </a:lvl9pPr>
          </a:lstStyle>
          <a:p>
            <a:fld id="{00000000-1234-1234-1234-123412341234}" type="slidenum">
              <a:rPr lang="en-US" altLang="ja-JP" smtClean="0"/>
              <a:pPr/>
              <a:t>‹#›</a:t>
            </a:fld>
            <a:endParaRPr lang="ja-JP" altLang="en-US"/>
          </a:p>
        </p:txBody>
      </p:sp>
      <p:sp>
        <p:nvSpPr>
          <p:cNvPr id="17" name="Google Shape;17;p23"/>
          <p:cNvSpPr txBox="1">
            <a:spLocks noGrp="1"/>
          </p:cNvSpPr>
          <p:nvPr>
            <p:ph type="dt" idx="10"/>
          </p:nvPr>
        </p:nvSpPr>
        <p:spPr>
          <a:xfrm>
            <a:off x="7229887" y="4697872"/>
            <a:ext cx="222885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295F"/>
                </a:solidFill>
                <a:latin typeface="MS PGothic"/>
                <a:ea typeface="MS PGothic"/>
                <a:cs typeface="MS PGothic"/>
                <a:sym typeface="MS P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fld id="{9AFB81A7-9D55-B146-BC3F-3B35689CC0E3}" type="datetime4">
              <a:rPr lang="ja-JP" altLang="en-US" smtClean="0"/>
              <a:t>2026年4月4日</a:t>
            </a:fld>
            <a:endParaRPr/>
          </a:p>
        </p:txBody>
      </p:sp>
      <p:sp>
        <p:nvSpPr>
          <p:cNvPr id="18" name="Google Shape;18;p23"/>
          <p:cNvSpPr txBox="1">
            <a:spLocks noGrp="1"/>
          </p:cNvSpPr>
          <p:nvPr>
            <p:ph type="body" idx="1"/>
          </p:nvPr>
        </p:nvSpPr>
        <p:spPr>
          <a:xfrm>
            <a:off x="657637" y="2601644"/>
            <a:ext cx="6660000" cy="2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4444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444444"/>
                </a:solidFill>
                <a:latin typeface="MS PGothic"/>
                <a:ea typeface="MS PGothic"/>
                <a:cs typeface="MS PGothic"/>
                <a:sym typeface="MS P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2"/>
          </p:nvPr>
        </p:nvSpPr>
        <p:spPr>
          <a:xfrm>
            <a:off x="657637" y="2967529"/>
            <a:ext cx="6660000" cy="4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5608C"/>
              </a:buClr>
              <a:buSzPts val="3000"/>
              <a:buFont typeface="Arial"/>
              <a:buNone/>
              <a:defRPr sz="3000" b="1" i="0" u="none" strike="noStrike" cap="none">
                <a:solidFill>
                  <a:srgbClr val="15608C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body" idx="3"/>
          </p:nvPr>
        </p:nvSpPr>
        <p:spPr>
          <a:xfrm>
            <a:off x="657637" y="3561311"/>
            <a:ext cx="6660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444444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444444"/>
                </a:solidFill>
                <a:latin typeface="MS PGothic"/>
                <a:ea typeface="MS PGothic"/>
                <a:cs typeface="MS PGothic"/>
                <a:sym typeface="MS PGothic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638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5" Type="http://schemas.openxmlformats.org/officeDocument/2006/relationships/image" Target="../media/image3.jpg"/><Relationship Id="rId4" Type="http://schemas.openxmlformats.org/officeDocument/2006/relationships/image" Target="../media/image2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4.xml"/><Relationship Id="rId7" Type="http://schemas.openxmlformats.org/officeDocument/2006/relationships/image" Target="../media/image5.emf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00722EBF-A660-4C42-B266-F69A065206A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881535" y="6544127"/>
            <a:ext cx="1943100" cy="1016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181C3C35-B11D-9749-B01F-B8A63A38816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853085" y="5053979"/>
            <a:ext cx="1473200" cy="190500"/>
          </a:xfrm>
          <a:prstGeom prst="rect">
            <a:avLst/>
          </a:prstGeom>
        </p:spPr>
      </p:pic>
      <p:pic>
        <p:nvPicPr>
          <p:cNvPr id="3" name="図 2" descr="ロゴ, 会社名&#10;&#10;自動的に生成された説明">
            <a:extLst>
              <a:ext uri="{FF2B5EF4-FFF2-40B4-BE49-F238E27FC236}">
                <a16:creationId xmlns:a16="http://schemas.microsoft.com/office/drawing/2014/main" id="{E1DDA18E-1D11-EA49-AC0B-DCD4C35DCF6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451" y="242347"/>
            <a:ext cx="1816100" cy="18923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B2F38D31-F4B7-481D-AD5F-EBD490C69BB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60388" y="5776011"/>
            <a:ext cx="5803900" cy="292100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39C8D724-42B0-04D7-2C44-D7A6CCCC3A6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6489700"/>
            <a:ext cx="9906000" cy="3683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C1C7117-EF42-095B-22A0-2545BA0A56F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13721" y="6618947"/>
            <a:ext cx="1943100" cy="10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32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tabLst/>
        <a:defRPr kumimoji="1" sz="2000" b="0" i="0" kern="1200">
          <a:solidFill>
            <a:srgbClr val="444444"/>
          </a:solidFill>
          <a:latin typeface="Noto Sans CJK JP Medium" panose="020B0500000000000000" pitchFamily="34" charset="-128"/>
          <a:ea typeface="Noto Sans CJK JP Medium" panose="020B0500000000000000" pitchFamily="34" charset="-128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120">
          <p15:clr>
            <a:srgbClr val="F26B43"/>
          </p15:clr>
        </p15:guide>
        <p15:guide id="3" pos="353">
          <p15:clr>
            <a:srgbClr val="F26B43"/>
          </p15:clr>
        </p15:guide>
        <p15:guide id="4" pos="5887">
          <p15:clr>
            <a:srgbClr val="F26B43"/>
          </p15:clr>
        </p15:guide>
        <p15:guide id="5" orient="horz" pos="595">
          <p15:clr>
            <a:srgbClr val="F26B43"/>
          </p15:clr>
        </p15:guide>
        <p15:guide id="6" orient="horz" pos="527">
          <p15:clr>
            <a:srgbClr val="F26B43"/>
          </p15:clr>
        </p15:guide>
        <p15:guide id="7" orient="horz" pos="346">
          <p15:clr>
            <a:srgbClr val="F26B43"/>
          </p15:clr>
        </p15:guide>
        <p15:guide id="8" orient="horz" pos="3816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14897D87-DFF5-5944-9546-C66B85C0B961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6489700"/>
            <a:ext cx="9906000" cy="3683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7A3C295E-DDEF-264C-83A5-E02F122CED53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6913721" y="6618947"/>
            <a:ext cx="1943100" cy="101600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6FB73AA-13EE-3F40-B25B-97BB8D56D0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41410" y="6507189"/>
            <a:ext cx="609282" cy="365125"/>
          </a:xfrm>
          <a:prstGeom prst="rect">
            <a:avLst/>
          </a:prstGeom>
        </p:spPr>
        <p:txBody>
          <a:bodyPr/>
          <a:lstStyle>
            <a:lvl1pPr algn="r">
              <a:defRPr sz="1200" b="0" i="0">
                <a:solidFill>
                  <a:schemeClr val="bg1"/>
                </a:solidFill>
                <a:latin typeface="Noto Sans CJK JP Medium" panose="020B0500000000000000" pitchFamily="34" charset="-128"/>
                <a:ea typeface="Noto Sans CJK JP Medium" panose="020B0500000000000000" pitchFamily="34" charset="-128"/>
              </a:defRPr>
            </a:lvl1pPr>
          </a:lstStyle>
          <a:p>
            <a:fld id="{79CA93EA-E741-6147-A020-AC21E298E377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7010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19" r:id="rId4"/>
    <p:sldLayoutId id="2147483725" r:id="rId5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120">
          <p15:clr>
            <a:srgbClr val="F26B43"/>
          </p15:clr>
        </p15:guide>
        <p15:guide id="3" pos="285">
          <p15:clr>
            <a:srgbClr val="F26B43"/>
          </p15:clr>
        </p15:guide>
        <p15:guide id="4" pos="5955">
          <p15:clr>
            <a:srgbClr val="F26B43"/>
          </p15:clr>
        </p15:guide>
        <p15:guide id="5" orient="horz" pos="1003">
          <p15:clr>
            <a:srgbClr val="F26B43"/>
          </p15:clr>
        </p15:guide>
        <p15:guide id="6" orient="horz" pos="572">
          <p15:clr>
            <a:srgbClr val="F26B43"/>
          </p15:clr>
        </p15:guide>
        <p15:guide id="7" orient="horz" pos="232">
          <p15:clr>
            <a:srgbClr val="F26B43"/>
          </p15:clr>
        </p15:guide>
        <p15:guide id="8" orient="horz" pos="4088">
          <p15:clr>
            <a:srgbClr val="F26B43"/>
          </p15:clr>
        </p15:guide>
        <p15:guide id="9" orient="horz" pos="392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>
            <a:spLocks noGrp="1"/>
          </p:cNvSpPr>
          <p:nvPr>
            <p:ph type="body" sz="quarter" idx="10"/>
          </p:nvPr>
        </p:nvSpPr>
        <p:spPr>
          <a:xfrm>
            <a:off x="560388" y="2575773"/>
            <a:ext cx="6757249" cy="2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44444"/>
              </a:buClr>
              <a:buSzPts val="1600"/>
              <a:buNone/>
            </a:pPr>
            <a:r>
              <a:rPr lang="ja-JP" altLang="en-US" b="1">
                <a:solidFill>
                  <a:schemeClr val="tx1">
                    <a:lumMod val="50000"/>
                    <a:lumOff val="50000"/>
                  </a:schemeClr>
                </a:solidFill>
              </a:rPr>
              <a:t>クライアント名</a:t>
            </a:r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ja-JP" b="1">
                <a:solidFill>
                  <a:schemeClr val="tx1">
                    <a:lumMod val="50000"/>
                    <a:lumOff val="50000"/>
                  </a:schemeClr>
                </a:solidFill>
              </a:rPr>
              <a:t>御中</a:t>
            </a:r>
            <a:endParaRPr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body" sz="quarter" idx="11"/>
          </p:nvPr>
        </p:nvSpPr>
        <p:spPr>
          <a:xfrm>
            <a:off x="560388" y="2967529"/>
            <a:ext cx="8785225" cy="881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5608C"/>
              </a:buClr>
              <a:buSzPts val="3000"/>
              <a:buNone/>
            </a:pPr>
            <a:r>
              <a:rPr lang="en-US" altLang="ja-JP" sz="2000" dirty="0"/>
              <a:t>20xx/xx/xx </a:t>
            </a:r>
            <a:r>
              <a:rPr lang="ja-JP" altLang="en-US" sz="2000"/>
              <a:t>開催</a:t>
            </a:r>
            <a:endParaRPr lang="en-US" altLang="ja-JP" sz="2000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5608C"/>
              </a:buClr>
              <a:buSzPts val="3000"/>
              <a:buNone/>
            </a:pPr>
            <a:r>
              <a:rPr lang="ja-JP" altLang="en-US" sz="2000"/>
              <a:t>セミナータイトル</a:t>
            </a:r>
            <a:endParaRPr lang="en-US" altLang="ja-JP" sz="2000" dirty="0"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5608C"/>
              </a:buClr>
              <a:buSzPts val="3000"/>
              <a:buNone/>
            </a:pPr>
            <a:r>
              <a:rPr lang="en-US" altLang="ja-JP" sz="2000" dirty="0"/>
              <a:t>– </a:t>
            </a:r>
            <a:r>
              <a:rPr lang="ja-JP" altLang="en-US" sz="2000"/>
              <a:t>セミナーサブタイトル </a:t>
            </a:r>
            <a:r>
              <a:rPr lang="en-US" altLang="ja-JP" sz="2000" dirty="0"/>
              <a:t>–</a:t>
            </a:r>
          </a:p>
        </p:txBody>
      </p:sp>
      <p:sp>
        <p:nvSpPr>
          <p:cNvPr id="53" name="Google Shape;53;p1"/>
          <p:cNvSpPr txBox="1">
            <a:spLocks noGrp="1"/>
          </p:cNvSpPr>
          <p:nvPr>
            <p:ph type="body" sz="quarter" idx="12"/>
          </p:nvPr>
        </p:nvSpPr>
        <p:spPr>
          <a:xfrm>
            <a:off x="560388" y="4011181"/>
            <a:ext cx="6757249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>
              <a:spcBef>
                <a:spcPts val="0"/>
              </a:spcBef>
              <a:buClr>
                <a:srgbClr val="444444"/>
              </a:buClr>
              <a:buSzPts val="1800"/>
            </a:pPr>
            <a:r>
              <a:rPr lang="en-US" sz="14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受講後アンケート</a:t>
            </a:r>
            <a:r>
              <a:rPr lang="en-US" sz="14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回答結果レポート</a:t>
            </a:r>
            <a:endParaRPr lang="en-US" sz="14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35553EF-3680-46DC-D51A-54005649FD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185248" y="4653136"/>
            <a:ext cx="2228850" cy="365125"/>
          </a:xfrm>
        </p:spPr>
        <p:txBody>
          <a:bodyPr/>
          <a:lstStyle/>
          <a:p>
            <a:fld id="{B7EC9894-27D8-594C-BFA8-748049612627}" type="datetime4">
              <a:rPr kumimoji="1" lang="ja-JP" altLang="en-US" sz="1600" smtClean="0"/>
              <a:t>2026年4月4日</a:t>
            </a:fld>
            <a:endParaRPr kumimoji="1" lang="ja-JP" alt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4BA80-DC3D-59C2-EE15-060F7B39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C772EB9-252D-AEBF-A118-5F9CF14F3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2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EA0633-23A3-9032-F670-93A5EF13268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lang="ja-JP" altLang="en-US" sz="2000" b="1"/>
              <a:t>全体サマリー</a:t>
            </a:r>
            <a:endParaRPr kumimoji="1" lang="ja-JP" altLang="en-US" sz="2000" b="1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BED1702-C993-C016-D239-4B2867700705}"/>
              </a:ext>
            </a:extLst>
          </p:cNvPr>
          <p:cNvSpPr/>
          <p:nvPr/>
        </p:nvSpPr>
        <p:spPr>
          <a:xfrm>
            <a:off x="453025" y="908050"/>
            <a:ext cx="2880000" cy="407912"/>
          </a:xfrm>
          <a:prstGeom prst="rect">
            <a:avLst/>
          </a:prstGeom>
          <a:solidFill>
            <a:srgbClr val="1560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</a:rPr>
              <a:t>申込者数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D044B140-1507-A22E-725F-7D117BDE6F28}"/>
              </a:ext>
            </a:extLst>
          </p:cNvPr>
          <p:cNvSpPr/>
          <p:nvPr/>
        </p:nvSpPr>
        <p:spPr>
          <a:xfrm>
            <a:off x="3513000" y="908050"/>
            <a:ext cx="2880000" cy="407912"/>
          </a:xfrm>
          <a:prstGeom prst="rect">
            <a:avLst/>
          </a:prstGeom>
          <a:solidFill>
            <a:srgbClr val="1560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</a:rPr>
              <a:t>実際の受講者数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53A7B610-A41F-0CAD-9919-74D769CD2B0A}"/>
              </a:ext>
            </a:extLst>
          </p:cNvPr>
          <p:cNvSpPr/>
          <p:nvPr/>
        </p:nvSpPr>
        <p:spPr>
          <a:xfrm>
            <a:off x="6573563" y="908050"/>
            <a:ext cx="2880000" cy="407912"/>
          </a:xfrm>
          <a:prstGeom prst="rect">
            <a:avLst/>
          </a:prstGeom>
          <a:solidFill>
            <a:srgbClr val="1560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</a:rPr>
              <a:t>アンケート回答総数</a:t>
            </a:r>
          </a:p>
        </p:txBody>
      </p:sp>
      <p:graphicFrame>
        <p:nvGraphicFramePr>
          <p:cNvPr id="23" name="Chart 5">
            <a:extLst>
              <a:ext uri="{FF2B5EF4-FFF2-40B4-BE49-F238E27FC236}">
                <a16:creationId xmlns:a16="http://schemas.microsoft.com/office/drawing/2014/main" id="{E9DF3F91-1E96-B713-1C93-A7B16FCF8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784056"/>
              </p:ext>
            </p:extLst>
          </p:nvPr>
        </p:nvGraphicFramePr>
        <p:xfrm>
          <a:off x="463415" y="1315962"/>
          <a:ext cx="2859219" cy="28760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4" name="Chart 5">
            <a:extLst>
              <a:ext uri="{FF2B5EF4-FFF2-40B4-BE49-F238E27FC236}">
                <a16:creationId xmlns:a16="http://schemas.microsoft.com/office/drawing/2014/main" id="{E56EE908-CBB2-FAB7-CFD5-2F85923283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5814118"/>
              </p:ext>
            </p:extLst>
          </p:nvPr>
        </p:nvGraphicFramePr>
        <p:xfrm>
          <a:off x="3523390" y="1315962"/>
          <a:ext cx="2859219" cy="28760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5" name="Chart 5">
            <a:extLst>
              <a:ext uri="{FF2B5EF4-FFF2-40B4-BE49-F238E27FC236}">
                <a16:creationId xmlns:a16="http://schemas.microsoft.com/office/drawing/2014/main" id="{7C116D13-D36B-D08A-1813-7D99D22697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3191973"/>
              </p:ext>
            </p:extLst>
          </p:nvPr>
        </p:nvGraphicFramePr>
        <p:xfrm>
          <a:off x="6583365" y="1315962"/>
          <a:ext cx="2859219" cy="28760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B5658847-1A95-F307-312E-9598C2C4004F}"/>
              </a:ext>
            </a:extLst>
          </p:cNvPr>
          <p:cNvSpPr/>
          <p:nvPr/>
        </p:nvSpPr>
        <p:spPr>
          <a:xfrm>
            <a:off x="463415" y="4510366"/>
            <a:ext cx="8990148" cy="407912"/>
          </a:xfrm>
          <a:prstGeom prst="rect">
            <a:avLst/>
          </a:prstGeom>
          <a:solidFill>
            <a:srgbClr val="15608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>
                <a:solidFill>
                  <a:schemeClr val="bg1"/>
                </a:solidFill>
              </a:rPr>
              <a:t>アンケート 回答サマリー</a:t>
            </a: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CD592B00-3FCB-B298-BAC2-0A11F2A7F644}"/>
              </a:ext>
            </a:extLst>
          </p:cNvPr>
          <p:cNvSpPr/>
          <p:nvPr/>
        </p:nvSpPr>
        <p:spPr>
          <a:xfrm>
            <a:off x="478411" y="5067240"/>
            <a:ext cx="2749631" cy="115187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95735109-84A5-715E-676C-3636A1922FB0}"/>
              </a:ext>
            </a:extLst>
          </p:cNvPr>
          <p:cNvSpPr txBox="1"/>
          <p:nvPr/>
        </p:nvSpPr>
        <p:spPr>
          <a:xfrm>
            <a:off x="589882" y="5141554"/>
            <a:ext cx="25266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rPr lang="ja-JP" altLang="en-US" sz="1000" b="1">
                <a:solidFill>
                  <a:srgbClr val="15608C"/>
                </a:solidFill>
                <a:latin typeface="+mn-ea"/>
              </a:rPr>
              <a:t>本セミナー全体を通じての感想をお聞かせください。</a:t>
            </a:r>
            <a:endParaRPr lang="ja-JP" altLang="en-US" sz="1000" b="1" dirty="0">
              <a:solidFill>
                <a:srgbClr val="15608C"/>
              </a:solidFill>
              <a:latin typeface="+mn-ea"/>
            </a:endParaRP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E461878D-B5A9-8506-6ADB-B79A3F6D8FF8}"/>
              </a:ext>
            </a:extLst>
          </p:cNvPr>
          <p:cNvSpPr txBox="1"/>
          <p:nvPr/>
        </p:nvSpPr>
        <p:spPr>
          <a:xfrm>
            <a:off x="589882" y="5572577"/>
            <a:ext cx="2526688" cy="467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lang="ja-JP" altLang="en-US" sz="1200">
                <a:solidFill>
                  <a:srgbClr val="15608C"/>
                </a:solidFill>
                <a:latin typeface="+mn-ea"/>
              </a:rPr>
              <a:t>最多</a:t>
            </a:r>
            <a:r>
              <a:rPr lang="en-US" altLang="ja-JP" sz="1200" dirty="0">
                <a:solidFill>
                  <a:srgbClr val="15608C"/>
                </a:solidFill>
                <a:latin typeface="+mn-ea"/>
              </a:rPr>
              <a:t>: </a:t>
            </a:r>
            <a:r>
              <a:rPr lang="ja-JP" altLang="en-US" sz="1200">
                <a:solidFill>
                  <a:srgbClr val="15608C"/>
                </a:solidFill>
                <a:latin typeface="+mn-ea"/>
              </a:rPr>
              <a:t>参考になった</a:t>
            </a:r>
            <a:br>
              <a:rPr lang="ja-JP" altLang="en-US" sz="1200">
                <a:solidFill>
                  <a:srgbClr val="15608C"/>
                </a:solidFill>
                <a:latin typeface="+mn-ea"/>
              </a:rPr>
            </a:br>
            <a:r>
              <a:rPr lang="en-US" altLang="ja-JP" sz="1200" dirty="0">
                <a:solidFill>
                  <a:srgbClr val="15608C"/>
                </a:solidFill>
                <a:latin typeface="+mn-ea"/>
              </a:rPr>
              <a:t>(53%)</a:t>
            </a:r>
          </a:p>
        </p:txBody>
      </p:sp>
      <p:sp>
        <p:nvSpPr>
          <p:cNvPr id="30" name="Rectangle 9">
            <a:extLst>
              <a:ext uri="{FF2B5EF4-FFF2-40B4-BE49-F238E27FC236}">
                <a16:creationId xmlns:a16="http://schemas.microsoft.com/office/drawing/2014/main" id="{6FAFB246-C244-CD55-0FCE-0D580F020DE0}"/>
              </a:ext>
            </a:extLst>
          </p:cNvPr>
          <p:cNvSpPr/>
          <p:nvPr/>
        </p:nvSpPr>
        <p:spPr>
          <a:xfrm>
            <a:off x="3578184" y="5067240"/>
            <a:ext cx="2749631" cy="115187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58334F5B-C114-8050-8C48-BE7B458302FE}"/>
              </a:ext>
            </a:extLst>
          </p:cNvPr>
          <p:cNvSpPr txBox="1"/>
          <p:nvPr/>
        </p:nvSpPr>
        <p:spPr>
          <a:xfrm>
            <a:off x="3689656" y="5141554"/>
            <a:ext cx="25266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rPr lang="ja-JP" altLang="en-US" sz="1000" b="1">
                <a:solidFill>
                  <a:srgbClr val="15608C"/>
                </a:solidFill>
                <a:latin typeface="+mn-ea"/>
              </a:rPr>
              <a:t>特に「参考になった</a:t>
            </a:r>
            <a:r>
              <a:rPr lang="en-US" altLang="ja-JP" sz="1000" b="1" dirty="0">
                <a:solidFill>
                  <a:srgbClr val="15608C"/>
                </a:solidFill>
                <a:latin typeface="+mn-ea"/>
              </a:rPr>
              <a:t>/</a:t>
            </a:r>
            <a:r>
              <a:rPr lang="ja-JP" altLang="en-US" sz="1000" b="1">
                <a:solidFill>
                  <a:srgbClr val="15608C"/>
                </a:solidFill>
                <a:latin typeface="+mn-ea"/>
              </a:rPr>
              <a:t>興味深かった」講演を教えてください。</a:t>
            </a:r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88EFEAF5-E372-2805-C144-8FA13C9BD0BC}"/>
              </a:ext>
            </a:extLst>
          </p:cNvPr>
          <p:cNvSpPr txBox="1"/>
          <p:nvPr/>
        </p:nvSpPr>
        <p:spPr>
          <a:xfrm>
            <a:off x="3689656" y="5572577"/>
            <a:ext cx="2526688" cy="467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rPr sz="1200" dirty="0" err="1">
                <a:solidFill>
                  <a:srgbClr val="15608C"/>
                </a:solidFill>
                <a:latin typeface="+mn-ea"/>
              </a:rPr>
              <a:t>最多</a:t>
            </a:r>
            <a:r>
              <a:rPr sz="1200" dirty="0">
                <a:solidFill>
                  <a:srgbClr val="15608C"/>
                </a:solidFill>
                <a:latin typeface="+mn-ea"/>
              </a:rPr>
              <a:t>:</a:t>
            </a:r>
            <a:r>
              <a:rPr lang="ja-JP" altLang="en-US" sz="1200">
                <a:solidFill>
                  <a:srgbClr val="15608C"/>
                </a:solidFill>
                <a:latin typeface="+mn-ea"/>
              </a:rPr>
              <a:t> 株式会社</a:t>
            </a:r>
            <a:r>
              <a:rPr lang="en-US" altLang="ja-JP" sz="1200" dirty="0">
                <a:solidFill>
                  <a:srgbClr val="15608C"/>
                </a:solidFill>
                <a:latin typeface="+mn-ea"/>
              </a:rPr>
              <a:t>NTT</a:t>
            </a:r>
            <a:r>
              <a:rPr lang="ja-JP" altLang="en-US" sz="1200">
                <a:solidFill>
                  <a:srgbClr val="15608C"/>
                </a:solidFill>
                <a:latin typeface="+mn-ea"/>
              </a:rPr>
              <a:t>データ</a:t>
            </a:r>
            <a:br>
              <a:rPr sz="1200" dirty="0">
                <a:solidFill>
                  <a:srgbClr val="15608C"/>
                </a:solidFill>
                <a:latin typeface="+mn-ea"/>
              </a:rPr>
            </a:br>
            <a:r>
              <a:rPr sz="1200" dirty="0">
                <a:solidFill>
                  <a:srgbClr val="15608C"/>
                </a:solidFill>
                <a:latin typeface="+mn-ea"/>
              </a:rPr>
              <a:t>(</a:t>
            </a:r>
            <a:r>
              <a:rPr lang="en-US" sz="1200" dirty="0">
                <a:solidFill>
                  <a:srgbClr val="15608C"/>
                </a:solidFill>
                <a:latin typeface="+mn-ea"/>
              </a:rPr>
              <a:t>39</a:t>
            </a:r>
            <a:r>
              <a:rPr sz="1200" dirty="0">
                <a:solidFill>
                  <a:srgbClr val="15608C"/>
                </a:solidFill>
                <a:latin typeface="+mn-ea"/>
              </a:rPr>
              <a:t>%)</a:t>
            </a:r>
          </a:p>
        </p:txBody>
      </p:sp>
      <p:sp>
        <p:nvSpPr>
          <p:cNvPr id="33" name="Rectangle 12">
            <a:extLst>
              <a:ext uri="{FF2B5EF4-FFF2-40B4-BE49-F238E27FC236}">
                <a16:creationId xmlns:a16="http://schemas.microsoft.com/office/drawing/2014/main" id="{D674166E-5CBF-7884-25E4-21CA5A9B545D}"/>
              </a:ext>
            </a:extLst>
          </p:cNvPr>
          <p:cNvSpPr/>
          <p:nvPr/>
        </p:nvSpPr>
        <p:spPr>
          <a:xfrm>
            <a:off x="6706368" y="5067240"/>
            <a:ext cx="2749631" cy="1151872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2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TextBox 13">
            <a:extLst>
              <a:ext uri="{FF2B5EF4-FFF2-40B4-BE49-F238E27FC236}">
                <a16:creationId xmlns:a16="http://schemas.microsoft.com/office/drawing/2014/main" id="{01E94315-AE60-7AD0-AD43-2D3589E3A5AA}"/>
              </a:ext>
            </a:extLst>
          </p:cNvPr>
          <p:cNvSpPr txBox="1"/>
          <p:nvPr/>
        </p:nvSpPr>
        <p:spPr>
          <a:xfrm>
            <a:off x="6817840" y="5141555"/>
            <a:ext cx="25266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FFFFF"/>
                </a:solidFill>
              </a:defRPr>
            </a:pPr>
            <a:r>
              <a:rPr lang="ja-JP" altLang="en-US" sz="1000" b="1">
                <a:solidFill>
                  <a:srgbClr val="15608C"/>
                </a:solidFill>
                <a:latin typeface="+mn-ea"/>
              </a:rPr>
              <a:t>株式会社</a:t>
            </a:r>
            <a:r>
              <a:rPr lang="en-US" altLang="ja-JP" sz="1000" b="1" dirty="0">
                <a:solidFill>
                  <a:srgbClr val="15608C"/>
                </a:solidFill>
                <a:latin typeface="+mn-ea"/>
              </a:rPr>
              <a:t>NTT</a:t>
            </a:r>
            <a:r>
              <a:rPr lang="ja-JP" altLang="en-US" sz="1000" b="1">
                <a:solidFill>
                  <a:srgbClr val="15608C"/>
                </a:solidFill>
                <a:latin typeface="+mn-ea"/>
              </a:rPr>
              <a:t>データ様の講演のご感想をお聞かせください。</a:t>
            </a: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BDA496F9-CF1E-413A-F792-CDD5CAFD973B}"/>
              </a:ext>
            </a:extLst>
          </p:cNvPr>
          <p:cNvSpPr txBox="1"/>
          <p:nvPr/>
        </p:nvSpPr>
        <p:spPr>
          <a:xfrm>
            <a:off x="6817840" y="5572577"/>
            <a:ext cx="2526688" cy="467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rPr lang="ja-JP" altLang="en-US" sz="1200">
                <a:solidFill>
                  <a:srgbClr val="15608C"/>
                </a:solidFill>
                <a:latin typeface="+mn-ea"/>
              </a:rPr>
              <a:t>最多</a:t>
            </a:r>
            <a:r>
              <a:rPr lang="en-US" altLang="ja-JP" sz="1200" dirty="0">
                <a:solidFill>
                  <a:srgbClr val="15608C"/>
                </a:solidFill>
                <a:latin typeface="+mn-ea"/>
              </a:rPr>
              <a:t>: </a:t>
            </a:r>
            <a:r>
              <a:rPr lang="ja-JP" altLang="en-US" sz="1200">
                <a:solidFill>
                  <a:srgbClr val="15608C"/>
                </a:solidFill>
                <a:latin typeface="+mn-ea"/>
              </a:rPr>
              <a:t>参考になった</a:t>
            </a:r>
            <a:br>
              <a:rPr lang="ja-JP" altLang="en-US" sz="1200">
                <a:solidFill>
                  <a:srgbClr val="15608C"/>
                </a:solidFill>
                <a:latin typeface="+mn-ea"/>
              </a:rPr>
            </a:br>
            <a:r>
              <a:rPr lang="en-US" altLang="ja-JP" sz="1200" dirty="0">
                <a:solidFill>
                  <a:srgbClr val="15608C"/>
                </a:solidFill>
                <a:latin typeface="+mn-ea"/>
              </a:rPr>
              <a:t>(47%)</a:t>
            </a:r>
          </a:p>
        </p:txBody>
      </p:sp>
    </p:spTree>
    <p:extLst>
      <p:ext uri="{BB962C8B-B14F-4D97-AF65-F5344CB8AC3E}">
        <p14:creationId xmlns:p14="http://schemas.microsoft.com/office/powerpoint/2010/main" val="179472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81C1-D1C1-1283-3C9C-A7EFB1B50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A78492F-2E70-9303-4EA1-DE1B77A6F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3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DB38149-FBB1-E404-1EAF-DCE47D1EC59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lang="en-US" altLang="ja-JP" sz="2000" b="1" dirty="0">
                <a:latin typeface="+mn-ea"/>
                <a:ea typeface="+mn-ea"/>
              </a:rPr>
              <a:t>Q1. </a:t>
            </a:r>
            <a:r>
              <a:rPr lang="ja-JP" altLang="en-US" sz="2000" b="1">
                <a:latin typeface="+mn-ea"/>
                <a:ea typeface="+mn-ea"/>
              </a:rPr>
              <a:t>本セミナー全体を通じての感想をお聞かせください。</a:t>
            </a:r>
            <a:endParaRPr kumimoji="1" lang="ja-JP" altLang="en-US" sz="2000" b="1" dirty="0">
              <a:latin typeface="+mn-ea"/>
              <a:ea typeface="+mn-ea"/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8442F7AB-3735-DBAA-2F7C-00444352DD01}"/>
              </a:ext>
            </a:extLst>
          </p:cNvPr>
          <p:cNvSpPr txBox="1">
            <a:spLocks/>
          </p:cNvSpPr>
          <p:nvPr/>
        </p:nvSpPr>
        <p:spPr>
          <a:xfrm>
            <a:off x="7655357" y="6235861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83 / 83 </a:t>
            </a:r>
            <a:r>
              <a:rPr lang="ja-JP" altLang="en-US">
                <a:latin typeface="游ゴシック"/>
              </a:rPr>
              <a:t>名</a:t>
            </a:r>
          </a:p>
        </p:txBody>
      </p:sp>
      <p:graphicFrame>
        <p:nvGraphicFramePr>
          <p:cNvPr id="11" name="Chart 5">
            <a:extLst>
              <a:ext uri="{FF2B5EF4-FFF2-40B4-BE49-F238E27FC236}">
                <a16:creationId xmlns:a16="http://schemas.microsoft.com/office/drawing/2014/main" id="{CBC40DF4-3EB1-B978-D543-7E81FAADB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997650"/>
              </p:ext>
            </p:extLst>
          </p:nvPr>
        </p:nvGraphicFramePr>
        <p:xfrm>
          <a:off x="452436" y="1075272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Chart 6">
            <a:extLst>
              <a:ext uri="{FF2B5EF4-FFF2-40B4-BE49-F238E27FC236}">
                <a16:creationId xmlns:a16="http://schemas.microsoft.com/office/drawing/2014/main" id="{00986663-1DBB-AFCA-3632-B324D2EEA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831263"/>
              </p:ext>
            </p:extLst>
          </p:nvPr>
        </p:nvGraphicFramePr>
        <p:xfrm>
          <a:off x="4953000" y="1075272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72061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EE90F-5404-F94F-4FBB-44CA40350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AE146F9-0F28-2236-BB7C-17AFD9CA8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4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1E06DC-B5C2-C82E-79F9-0333AF8FE69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kumimoji="1" lang="en" altLang="ja-JP" sz="2000" b="1" dirty="0"/>
              <a:t>Q2. </a:t>
            </a:r>
            <a:r>
              <a:rPr kumimoji="1" lang="ja-JP" altLang="en-US" sz="2000" b="1"/>
              <a:t>本セミナー全体を通じての感想の理由を教えてください。  </a:t>
            </a:r>
            <a:r>
              <a:rPr kumimoji="1" lang="en-US" altLang="ja-JP" sz="2000" b="1" dirty="0"/>
              <a:t>(1/x)</a:t>
            </a:r>
            <a:endParaRPr kumimoji="1" lang="ja-JP" altLang="en-US" sz="2000" b="1" dirty="0"/>
          </a:p>
        </p:txBody>
      </p:sp>
      <p:graphicFrame>
        <p:nvGraphicFramePr>
          <p:cNvPr id="4" name="Table Placeholder 2">
            <a:extLst>
              <a:ext uri="{FF2B5EF4-FFF2-40B4-BE49-F238E27FC236}">
                <a16:creationId xmlns:a16="http://schemas.microsoft.com/office/drawing/2014/main" id="{F06B21CB-A5CD-026E-BD58-9FCE6E4A70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76185538"/>
              </p:ext>
            </p:extLst>
          </p:nvPr>
        </p:nvGraphicFramePr>
        <p:xfrm>
          <a:off x="452438" y="908050"/>
          <a:ext cx="9001125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6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游ゴシック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FFFFFF"/>
                          </a:solidFill>
                          <a:latin typeface="游ゴシック"/>
                        </a:rPr>
                        <a:t>回答</a:t>
                      </a:r>
                      <a:endParaRPr sz="1100" b="1" dirty="0">
                        <a:solidFill>
                          <a:srgbClr val="FFFFFF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11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747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12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030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13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0209023"/>
                  </a:ext>
                </a:extLst>
              </a:tr>
            </a:tbl>
          </a:graphicData>
        </a:graphic>
      </p:graphicFrame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72136CE-5D03-96EF-A5F6-3BD368A9B7DE}"/>
              </a:ext>
            </a:extLst>
          </p:cNvPr>
          <p:cNvSpPr txBox="1">
            <a:spLocks/>
          </p:cNvSpPr>
          <p:nvPr/>
        </p:nvSpPr>
        <p:spPr>
          <a:xfrm>
            <a:off x="7655357" y="6233437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xx / xx </a:t>
            </a:r>
            <a:r>
              <a:rPr lang="ja-JP" altLang="en-US">
                <a:latin typeface="游ゴシック"/>
              </a:rPr>
              <a:t>名</a:t>
            </a:r>
            <a:endParaRPr lang="ja-JP" altLang="en-US" dirty="0">
              <a:latin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3182305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D3D80-348D-BF55-673B-5EE2CDAFE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EC0C7434-E02C-B00C-742D-EA8CDDF040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5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8A730FA-C6E0-F361-73DA-937F14A37EB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lang="en" altLang="ja-JP" sz="2000" b="1" dirty="0">
                <a:latin typeface="+mn-ea"/>
                <a:ea typeface="+mn-ea"/>
              </a:rPr>
              <a:t>Q3. </a:t>
            </a:r>
            <a:r>
              <a:rPr lang="ja-JP" altLang="en-US" sz="2000" b="1">
                <a:latin typeface="+mn-ea"/>
                <a:ea typeface="+mn-ea"/>
              </a:rPr>
              <a:t>特に「参考になった</a:t>
            </a:r>
            <a:r>
              <a:rPr lang="en-US" altLang="ja-JP" sz="2000" b="1" dirty="0">
                <a:latin typeface="+mn-ea"/>
                <a:ea typeface="+mn-ea"/>
              </a:rPr>
              <a:t>/</a:t>
            </a:r>
            <a:r>
              <a:rPr lang="ja-JP" altLang="en-US" sz="2000" b="1">
                <a:latin typeface="+mn-ea"/>
                <a:ea typeface="+mn-ea"/>
              </a:rPr>
              <a:t>興味深かった」講演を教えてください。</a:t>
            </a:r>
            <a:endParaRPr kumimoji="1" lang="ja-JP" altLang="en-US" sz="2000" b="1" dirty="0">
              <a:latin typeface="+mn-ea"/>
              <a:ea typeface="+mn-ea"/>
            </a:endParaRP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8825EC3-C6AE-340C-B266-C8878C52DA11}"/>
              </a:ext>
            </a:extLst>
          </p:cNvPr>
          <p:cNvSpPr txBox="1">
            <a:spLocks/>
          </p:cNvSpPr>
          <p:nvPr/>
        </p:nvSpPr>
        <p:spPr>
          <a:xfrm>
            <a:off x="7655357" y="6235861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83 / 83 </a:t>
            </a:r>
            <a:r>
              <a:rPr lang="ja-JP" altLang="en-US">
                <a:latin typeface="游ゴシック"/>
              </a:rPr>
              <a:t>名</a:t>
            </a:r>
          </a:p>
        </p:txBody>
      </p:sp>
      <p:graphicFrame>
        <p:nvGraphicFramePr>
          <p:cNvPr id="8" name="Chart 5">
            <a:extLst>
              <a:ext uri="{FF2B5EF4-FFF2-40B4-BE49-F238E27FC236}">
                <a16:creationId xmlns:a16="http://schemas.microsoft.com/office/drawing/2014/main" id="{2BD2625C-2E22-CD84-B559-65758B7BA5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817080"/>
              </p:ext>
            </p:extLst>
          </p:nvPr>
        </p:nvGraphicFramePr>
        <p:xfrm>
          <a:off x="273051" y="1252828"/>
          <a:ext cx="9359899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06763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31AA7-515D-B385-6955-21EC65D29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BCA9833-F373-E5AA-1D16-C4055FC4AD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6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E70CC5-2458-EDED-0DAA-0B8D196F1EA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lang="en" altLang="ja-JP" sz="2000" b="1" dirty="0">
                <a:latin typeface="+mn-ea"/>
                <a:ea typeface="+mn-ea"/>
              </a:rPr>
              <a:t>Q5. </a:t>
            </a:r>
            <a:r>
              <a:rPr lang="ja-JP" altLang="en-US" sz="2000" b="1">
                <a:latin typeface="+mn-ea"/>
                <a:ea typeface="+mn-ea"/>
              </a:rPr>
              <a:t>株式会社</a:t>
            </a:r>
            <a:r>
              <a:rPr lang="en" altLang="ja-JP" sz="2000" b="1" dirty="0">
                <a:latin typeface="+mn-ea"/>
                <a:ea typeface="+mn-ea"/>
              </a:rPr>
              <a:t>NTT</a:t>
            </a:r>
            <a:r>
              <a:rPr lang="ja-JP" altLang="en-US" sz="2000" b="1">
                <a:latin typeface="+mn-ea"/>
                <a:ea typeface="+mn-ea"/>
              </a:rPr>
              <a:t>データ様の講演のご感想をお聞かせください。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F4F2F91-5166-68F5-F7E3-62191A725D50}"/>
              </a:ext>
            </a:extLst>
          </p:cNvPr>
          <p:cNvSpPr txBox="1">
            <a:spLocks/>
          </p:cNvSpPr>
          <p:nvPr/>
        </p:nvSpPr>
        <p:spPr>
          <a:xfrm>
            <a:off x="7655357" y="6235861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83 / 83 </a:t>
            </a:r>
            <a:r>
              <a:rPr lang="ja-JP" altLang="en-US">
                <a:latin typeface="游ゴシック"/>
              </a:rPr>
              <a:t>名</a:t>
            </a:r>
          </a:p>
        </p:txBody>
      </p:sp>
      <p:graphicFrame>
        <p:nvGraphicFramePr>
          <p:cNvPr id="10" name="Chart 5">
            <a:extLst>
              <a:ext uri="{FF2B5EF4-FFF2-40B4-BE49-F238E27FC236}">
                <a16:creationId xmlns:a16="http://schemas.microsoft.com/office/drawing/2014/main" id="{930DC621-9742-BB19-2698-EC8B17A927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40422"/>
              </p:ext>
            </p:extLst>
          </p:nvPr>
        </p:nvGraphicFramePr>
        <p:xfrm>
          <a:off x="452438" y="1075272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Chart 6">
            <a:extLst>
              <a:ext uri="{FF2B5EF4-FFF2-40B4-BE49-F238E27FC236}">
                <a16:creationId xmlns:a16="http://schemas.microsoft.com/office/drawing/2014/main" id="{12E5927C-9AC7-8DE6-D9C3-9FE78DB82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1860686"/>
              </p:ext>
            </p:extLst>
          </p:nvPr>
        </p:nvGraphicFramePr>
        <p:xfrm>
          <a:off x="4953002" y="1075272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35164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1DC-0C83-B453-BC39-F8E6CD36C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EF1BDB4-C84B-BC08-2C9F-F5FA70A25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7</a:t>
            </a:fld>
            <a:endParaRPr kumimoji="1" lang="ja-JP" alt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4A6A30D-7AAF-F553-A60C-1ED962E99634}"/>
              </a:ext>
            </a:extLst>
          </p:cNvPr>
          <p:cNvSpPr txBox="1">
            <a:spLocks/>
          </p:cNvSpPr>
          <p:nvPr/>
        </p:nvSpPr>
        <p:spPr>
          <a:xfrm>
            <a:off x="7655357" y="6235861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83 / 83 </a:t>
            </a:r>
            <a:r>
              <a:rPr lang="ja-JP" altLang="en-US">
                <a:latin typeface="游ゴシック"/>
              </a:rPr>
              <a:t>名</a:t>
            </a: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A2858091-C7F2-EA94-4350-02E0881CA608}"/>
              </a:ext>
            </a:extLst>
          </p:cNvPr>
          <p:cNvSpPr txBox="1">
            <a:spLocks/>
          </p:cNvSpPr>
          <p:nvPr/>
        </p:nvSpPr>
        <p:spPr>
          <a:xfrm>
            <a:off x="589882" y="383841"/>
            <a:ext cx="8863681" cy="37116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b="0" i="0" kern="1200">
                <a:solidFill>
                  <a:srgbClr val="15608C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2000" b="1">
                <a:latin typeface="+mn-ea"/>
                <a:ea typeface="+mn-ea"/>
              </a:rPr>
              <a:t>Q9. </a:t>
            </a:r>
            <a:r>
              <a:rPr lang="ja-JP" altLang="en-US" sz="2000" b="1">
                <a:latin typeface="+mn-ea"/>
                <a:ea typeface="+mn-ea"/>
              </a:rPr>
              <a:t>モビリティデータの活用についてご意見をお聞かせください。</a:t>
            </a:r>
          </a:p>
        </p:txBody>
      </p:sp>
      <p:graphicFrame>
        <p:nvGraphicFramePr>
          <p:cNvPr id="8" name="Chart 5">
            <a:extLst>
              <a:ext uri="{FF2B5EF4-FFF2-40B4-BE49-F238E27FC236}">
                <a16:creationId xmlns:a16="http://schemas.microsoft.com/office/drawing/2014/main" id="{8112991F-B247-3CE6-7C24-06FF68E06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8181923"/>
              </p:ext>
            </p:extLst>
          </p:nvPr>
        </p:nvGraphicFramePr>
        <p:xfrm>
          <a:off x="452438" y="1052736"/>
          <a:ext cx="9001126" cy="504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1840310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7165A-E7BE-0C9E-A53C-A40C24E57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BC8A5F9-3694-60DA-B6B0-0C112EF28A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8</a:t>
            </a:fld>
            <a:endParaRPr kumimoji="1" lang="ja-JP" alt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8FF3B75-8F1F-3F30-5F23-23E9D0F80C8A}"/>
              </a:ext>
            </a:extLst>
          </p:cNvPr>
          <p:cNvSpPr txBox="1">
            <a:spLocks/>
          </p:cNvSpPr>
          <p:nvPr/>
        </p:nvSpPr>
        <p:spPr>
          <a:xfrm>
            <a:off x="7655357" y="6235861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xx / xx </a:t>
            </a:r>
            <a:r>
              <a:rPr lang="ja-JP" altLang="en-US">
                <a:latin typeface="游ゴシック"/>
              </a:rPr>
              <a:t>名</a:t>
            </a:r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2BC17228-806B-D301-BC91-36C7EF18C177}"/>
              </a:ext>
            </a:extLst>
          </p:cNvPr>
          <p:cNvSpPr txBox="1">
            <a:spLocks/>
          </p:cNvSpPr>
          <p:nvPr/>
        </p:nvSpPr>
        <p:spPr>
          <a:xfrm>
            <a:off x="589882" y="383840"/>
            <a:ext cx="8863681" cy="668895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b="0" i="0" kern="1200">
                <a:solidFill>
                  <a:srgbClr val="15608C"/>
                </a:solidFill>
                <a:latin typeface="Yu Gothic" panose="020B0400000000000000" pitchFamily="34" charset="-128"/>
                <a:ea typeface="Yu Gothic" panose="020B0400000000000000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sz="2000" b="1" dirty="0">
                <a:latin typeface="+mn-ea"/>
                <a:ea typeface="+mn-ea"/>
              </a:rPr>
              <a:t>Q10. </a:t>
            </a:r>
            <a:r>
              <a:rPr lang="ja-JP" altLang="en-US" sz="2000" b="1">
                <a:latin typeface="+mn-ea"/>
                <a:ea typeface="+mn-ea"/>
              </a:rPr>
              <a:t>モビリティデータの活用にあたって、現在の貴社のお取り組み状況や課題について教えてください。</a:t>
            </a:r>
            <a:r>
              <a:rPr lang="en-US" altLang="ja-JP" sz="2000" b="1" dirty="0">
                <a:latin typeface="+mn-ea"/>
                <a:ea typeface="+mn-ea"/>
              </a:rPr>
              <a:t>(1/x)</a:t>
            </a:r>
            <a:endParaRPr lang="ja-JP" altLang="en-US" sz="2000" b="1">
              <a:latin typeface="+mn-ea"/>
              <a:ea typeface="+mn-ea"/>
            </a:endParaRPr>
          </a:p>
        </p:txBody>
      </p:sp>
      <p:graphicFrame>
        <p:nvGraphicFramePr>
          <p:cNvPr id="3" name="Table Placeholder 2">
            <a:extLst>
              <a:ext uri="{FF2B5EF4-FFF2-40B4-BE49-F238E27FC236}">
                <a16:creationId xmlns:a16="http://schemas.microsoft.com/office/drawing/2014/main" id="{1A0352C5-C226-A7D7-A4E1-63F3779DE9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3288265"/>
              </p:ext>
            </p:extLst>
          </p:nvPr>
        </p:nvGraphicFramePr>
        <p:xfrm>
          <a:off x="452438" y="1155226"/>
          <a:ext cx="9001125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6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游ゴシック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FFFFFF"/>
                          </a:solidFill>
                          <a:latin typeface="游ゴシック"/>
                        </a:rPr>
                        <a:t>回答</a:t>
                      </a:r>
                      <a:endParaRPr sz="1100" b="1" dirty="0">
                        <a:solidFill>
                          <a:srgbClr val="FFFFFF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11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747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12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ja-JP" altLang="en-US" sz="1000" b="1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030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616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515B0-23D6-8E5B-F0BA-9594C2703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9A9D175-C6F6-F08E-529B-6D67DE987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9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C96E557-C354-B66F-E9CB-654006E1934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lang="en" altLang="ja-JP" sz="2000" b="1" dirty="0">
                <a:latin typeface="+mn-ea"/>
                <a:ea typeface="+mn-ea"/>
              </a:rPr>
              <a:t>Q11. JMDS</a:t>
            </a:r>
            <a:r>
              <a:rPr lang="ja-JP" altLang="en-US" sz="2000" b="1">
                <a:latin typeface="+mn-ea"/>
                <a:ea typeface="+mn-ea"/>
              </a:rPr>
              <a:t>を推進する株式会社</a:t>
            </a:r>
            <a:r>
              <a:rPr lang="en" altLang="ja-JP" sz="2000" b="1" dirty="0">
                <a:latin typeface="+mn-ea"/>
                <a:ea typeface="+mn-ea"/>
              </a:rPr>
              <a:t>NTT</a:t>
            </a:r>
            <a:r>
              <a:rPr lang="ja-JP" altLang="en-US" sz="2000" b="1">
                <a:latin typeface="+mn-ea"/>
                <a:ea typeface="+mn-ea"/>
              </a:rPr>
              <a:t>データと意見交換を行いたいですか？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5BB36C2B-D818-CB03-4B8C-CF60D0723513}"/>
              </a:ext>
            </a:extLst>
          </p:cNvPr>
          <p:cNvSpPr txBox="1">
            <a:spLocks/>
          </p:cNvSpPr>
          <p:nvPr/>
        </p:nvSpPr>
        <p:spPr>
          <a:xfrm>
            <a:off x="7655357" y="6235861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83 / 83 </a:t>
            </a:r>
            <a:r>
              <a:rPr lang="ja-JP" altLang="en-US">
                <a:latin typeface="游ゴシック"/>
              </a:rPr>
              <a:t>名</a:t>
            </a:r>
          </a:p>
        </p:txBody>
      </p:sp>
      <p:graphicFrame>
        <p:nvGraphicFramePr>
          <p:cNvPr id="4" name="Chart 5">
            <a:extLst>
              <a:ext uri="{FF2B5EF4-FFF2-40B4-BE49-F238E27FC236}">
                <a16:creationId xmlns:a16="http://schemas.microsoft.com/office/drawing/2014/main" id="{ED65BDE5-C91F-50AC-6AD7-4EBBF03A45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058738"/>
              </p:ext>
            </p:extLst>
          </p:nvPr>
        </p:nvGraphicFramePr>
        <p:xfrm>
          <a:off x="452438" y="1076043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6">
            <a:extLst>
              <a:ext uri="{FF2B5EF4-FFF2-40B4-BE49-F238E27FC236}">
                <a16:creationId xmlns:a16="http://schemas.microsoft.com/office/drawing/2014/main" id="{A6F96FEE-5005-7C2D-0353-A3F4D7AC5B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4184671"/>
              </p:ext>
            </p:extLst>
          </p:nvPr>
        </p:nvGraphicFramePr>
        <p:xfrm>
          <a:off x="4953002" y="1076043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3781E06-C1C5-2A59-7B26-ABBC369EA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9332740"/>
              </p:ext>
            </p:extLst>
          </p:nvPr>
        </p:nvGraphicFramePr>
        <p:xfrm>
          <a:off x="452438" y="1075272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111660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C6D9D-5181-798F-492F-901B0F48A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D8DE95D-753C-3542-B2EE-EC6A3C7F17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10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7FD49E-C293-8F85-6811-8724F710F21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lang="en" altLang="ja-JP" sz="2000" b="1" dirty="0">
                <a:latin typeface="+mn-ea"/>
                <a:ea typeface="+mn-ea"/>
              </a:rPr>
              <a:t>Q14. </a:t>
            </a:r>
            <a:r>
              <a:rPr lang="ja-JP" altLang="en-US" sz="2000" b="1">
                <a:latin typeface="+mn-ea"/>
                <a:ea typeface="+mn-ea"/>
              </a:rPr>
              <a:t>その他を選ばれた場合、ご記入ください。</a:t>
            </a:r>
            <a:r>
              <a:rPr lang="en-US" altLang="ja-JP" sz="2000" b="1" dirty="0">
                <a:latin typeface="+mn-ea"/>
                <a:ea typeface="+mn-ea"/>
              </a:rPr>
              <a:t>(1/x)</a:t>
            </a:r>
            <a:endParaRPr kumimoji="1" lang="ja-JP" altLang="en-US" sz="2000" b="1" dirty="0">
              <a:latin typeface="+mn-ea"/>
              <a:ea typeface="+mn-ea"/>
            </a:endParaRPr>
          </a:p>
        </p:txBody>
      </p:sp>
      <p:graphicFrame>
        <p:nvGraphicFramePr>
          <p:cNvPr id="4" name="Table Placeholder 2">
            <a:extLst>
              <a:ext uri="{FF2B5EF4-FFF2-40B4-BE49-F238E27FC236}">
                <a16:creationId xmlns:a16="http://schemas.microsoft.com/office/drawing/2014/main" id="{A7EB213F-837F-B8D7-D501-74524AE731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6395997"/>
              </p:ext>
            </p:extLst>
          </p:nvPr>
        </p:nvGraphicFramePr>
        <p:xfrm>
          <a:off x="452438" y="908050"/>
          <a:ext cx="9001125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6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游ゴシック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FFFFFF"/>
                          </a:solidFill>
                          <a:latin typeface="游ゴシック"/>
                        </a:rPr>
                        <a:t>回答</a:t>
                      </a:r>
                      <a:endParaRPr sz="1100" b="1" dirty="0">
                        <a:solidFill>
                          <a:srgbClr val="FFFFFF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11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747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12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030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13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0209023"/>
                  </a:ext>
                </a:extLst>
              </a:tr>
            </a:tbl>
          </a:graphicData>
        </a:graphic>
      </p:graphicFrame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0358580-DDB4-BD88-A9DA-04E3488A2CA1}"/>
              </a:ext>
            </a:extLst>
          </p:cNvPr>
          <p:cNvSpPr txBox="1">
            <a:spLocks/>
          </p:cNvSpPr>
          <p:nvPr/>
        </p:nvSpPr>
        <p:spPr>
          <a:xfrm>
            <a:off x="7655357" y="6233437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xx / xx </a:t>
            </a:r>
            <a:r>
              <a:rPr lang="ja-JP" altLang="en-US">
                <a:latin typeface="游ゴシック"/>
              </a:rPr>
              <a:t>名</a:t>
            </a:r>
            <a:endParaRPr lang="ja-JP" altLang="en-US" dirty="0">
              <a:latin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2880972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DD3B6-E4D7-B8B8-2180-8142E0E50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C095D31-8D42-2288-31B6-9174120C3A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11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D75FE3-60EE-9692-92A8-8DCF025695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lang="en-US" altLang="ja-JP" sz="2000" b="1" dirty="0">
                <a:latin typeface="+mn-ea"/>
                <a:ea typeface="+mn-ea"/>
              </a:rPr>
              <a:t>Yes/No </a:t>
            </a:r>
            <a:endParaRPr lang="ja-JP" altLang="en-US" sz="2000" b="1">
              <a:latin typeface="+mn-ea"/>
              <a:ea typeface="+mn-ea"/>
            </a:endParaRP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7879096-5A62-6483-6A1C-9EA533F1EDCA}"/>
              </a:ext>
            </a:extLst>
          </p:cNvPr>
          <p:cNvSpPr txBox="1">
            <a:spLocks/>
          </p:cNvSpPr>
          <p:nvPr/>
        </p:nvSpPr>
        <p:spPr>
          <a:xfrm>
            <a:off x="7655357" y="6235861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xx / xx </a:t>
            </a:r>
            <a:r>
              <a:rPr lang="ja-JP" altLang="en-US">
                <a:latin typeface="游ゴシック"/>
              </a:rPr>
              <a:t>名</a:t>
            </a:r>
          </a:p>
        </p:txBody>
      </p:sp>
      <p:graphicFrame>
        <p:nvGraphicFramePr>
          <p:cNvPr id="9" name="Chart 6">
            <a:extLst>
              <a:ext uri="{FF2B5EF4-FFF2-40B4-BE49-F238E27FC236}">
                <a16:creationId xmlns:a16="http://schemas.microsoft.com/office/drawing/2014/main" id="{4F4CC328-D1E8-94EE-B758-FD3BD51633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936769"/>
              </p:ext>
            </p:extLst>
          </p:nvPr>
        </p:nvGraphicFramePr>
        <p:xfrm>
          <a:off x="4953002" y="1075272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5">
            <a:extLst>
              <a:ext uri="{FF2B5EF4-FFF2-40B4-BE49-F238E27FC236}">
                <a16:creationId xmlns:a16="http://schemas.microsoft.com/office/drawing/2014/main" id="{79D98270-A3A4-74D8-2557-711C15EB11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448381"/>
              </p:ext>
            </p:extLst>
          </p:nvPr>
        </p:nvGraphicFramePr>
        <p:xfrm>
          <a:off x="452438" y="1075272"/>
          <a:ext cx="4500562" cy="47074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72590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15C55-6891-EDA0-2387-B34E1363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CA40842-187B-BBD8-6CE0-69D02290B9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12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17FDC8-B87A-2B36-F928-C9838A3F435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 anchor="ctr"/>
          <a:lstStyle/>
          <a:p>
            <a:r>
              <a:rPr lang="en" altLang="ja-JP" sz="2000" b="1" dirty="0">
                <a:latin typeface="+mn-ea"/>
                <a:ea typeface="+mn-ea"/>
              </a:rPr>
              <a:t>Q16. </a:t>
            </a:r>
            <a:r>
              <a:rPr lang="ja-JP" altLang="en-US" sz="2000" b="1">
                <a:latin typeface="+mn-ea"/>
                <a:ea typeface="+mn-ea"/>
              </a:rPr>
              <a:t>今回のテーマ以外で何か気になるテーマはありますか？</a:t>
            </a:r>
            <a:endParaRPr kumimoji="1" lang="ja-JP" altLang="en-US" sz="2000" b="1" dirty="0">
              <a:latin typeface="+mn-ea"/>
              <a:ea typeface="+mn-ea"/>
            </a:endParaRPr>
          </a:p>
        </p:txBody>
      </p:sp>
      <p:graphicFrame>
        <p:nvGraphicFramePr>
          <p:cNvPr id="4" name="Table Placeholder 2">
            <a:extLst>
              <a:ext uri="{FF2B5EF4-FFF2-40B4-BE49-F238E27FC236}">
                <a16:creationId xmlns:a16="http://schemas.microsoft.com/office/drawing/2014/main" id="{33AEEAE9-A3D9-0875-5A7B-1DABBF06D62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6237132"/>
              </p:ext>
            </p:extLst>
          </p:nvPr>
        </p:nvGraphicFramePr>
        <p:xfrm>
          <a:off x="452438" y="908050"/>
          <a:ext cx="9001125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6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游ゴシック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FFFFFF"/>
                          </a:solidFill>
                          <a:latin typeface="游ゴシック"/>
                        </a:rPr>
                        <a:t>回答</a:t>
                      </a:r>
                      <a:endParaRPr sz="1100" b="1" dirty="0">
                        <a:solidFill>
                          <a:srgbClr val="FFFFFF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11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747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12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0302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13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0209023"/>
                  </a:ext>
                </a:extLst>
              </a:tr>
            </a:tbl>
          </a:graphicData>
        </a:graphic>
      </p:graphicFrame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9DCED10-5E12-A040-8CAD-CC4470A0086F}"/>
              </a:ext>
            </a:extLst>
          </p:cNvPr>
          <p:cNvSpPr txBox="1">
            <a:spLocks/>
          </p:cNvSpPr>
          <p:nvPr/>
        </p:nvSpPr>
        <p:spPr>
          <a:xfrm>
            <a:off x="7655357" y="6233437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xx / xx </a:t>
            </a:r>
            <a:r>
              <a:rPr lang="ja-JP" altLang="en-US">
                <a:latin typeface="游ゴシック"/>
              </a:rPr>
              <a:t>名</a:t>
            </a:r>
            <a:endParaRPr lang="ja-JP" altLang="en-US" dirty="0">
              <a:latin typeface="游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1249262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036D4-6A26-E884-9A63-73C182DAB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0923E293-78A6-EA01-6E7D-9310469965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13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FCA6FE4-5F29-70B6-4BF8-49F612F091A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9882" y="383840"/>
            <a:ext cx="8863681" cy="668895"/>
          </a:xfrm>
        </p:spPr>
        <p:txBody>
          <a:bodyPr anchor="ctr"/>
          <a:lstStyle/>
          <a:p>
            <a:r>
              <a:rPr lang="en" altLang="ja-JP" sz="2000" b="1" dirty="0">
                <a:latin typeface="+mn-ea"/>
                <a:ea typeface="+mn-ea"/>
              </a:rPr>
              <a:t>Q17.</a:t>
            </a:r>
            <a:r>
              <a:rPr lang="ja-JP" altLang="en-US" sz="2000" b="1">
                <a:latin typeface="+mn-ea"/>
                <a:ea typeface="+mn-ea"/>
              </a:rPr>
              <a:t>その他本セミナーに関して、ご意見やご感想・質問等がございましたら、ご記入ください。</a:t>
            </a:r>
            <a:r>
              <a:rPr lang="en-US" altLang="ja-JP" sz="2000" b="1" dirty="0">
                <a:latin typeface="+mn-ea"/>
                <a:ea typeface="+mn-ea"/>
              </a:rPr>
              <a:t>(1/x)</a:t>
            </a:r>
            <a:endParaRPr kumimoji="1" lang="ja-JP" altLang="en-US" sz="2000" b="1" dirty="0">
              <a:latin typeface="+mn-ea"/>
              <a:ea typeface="+mn-ea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4141CEA-056B-2B65-A129-5A93B4FB7FA1}"/>
              </a:ext>
            </a:extLst>
          </p:cNvPr>
          <p:cNvSpPr txBox="1">
            <a:spLocks/>
          </p:cNvSpPr>
          <p:nvPr/>
        </p:nvSpPr>
        <p:spPr>
          <a:xfrm>
            <a:off x="7655357" y="6233437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xx / xx </a:t>
            </a:r>
            <a:r>
              <a:rPr lang="ja-JP" altLang="en-US">
                <a:latin typeface="游ゴシック"/>
              </a:rPr>
              <a:t>名</a:t>
            </a:r>
            <a:endParaRPr lang="ja-JP" altLang="en-US" dirty="0">
              <a:latin typeface="游ゴシック"/>
            </a:endParaRPr>
          </a:p>
        </p:txBody>
      </p:sp>
      <p:graphicFrame>
        <p:nvGraphicFramePr>
          <p:cNvPr id="5" name="Table Placeholder 2">
            <a:extLst>
              <a:ext uri="{FF2B5EF4-FFF2-40B4-BE49-F238E27FC236}">
                <a16:creationId xmlns:a16="http://schemas.microsoft.com/office/drawing/2014/main" id="{8DDD7712-F614-988B-7C75-FFB0DFA3B9B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7323950"/>
              </p:ext>
            </p:extLst>
          </p:nvPr>
        </p:nvGraphicFramePr>
        <p:xfrm>
          <a:off x="452438" y="1155226"/>
          <a:ext cx="9001125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167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游ゴシック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FFFFFF"/>
                          </a:solidFill>
                          <a:latin typeface="游ゴシック"/>
                        </a:rPr>
                        <a:t>回答</a:t>
                      </a:r>
                      <a:endParaRPr sz="1100" b="1" dirty="0">
                        <a:solidFill>
                          <a:srgbClr val="FFFFFF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游ゴシック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4767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游ゴシック"/>
                        </a:rPr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67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5385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3AEA61EE-6453-632F-06FA-7D1E3D7F87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CA93EA-E741-6147-A020-AC21E298E377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Noto Sans CJK JP Medium" panose="020B0500000000000000" pitchFamily="34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Noto Sans CJK JP Medium" panose="020B0500000000000000" pitchFamily="34" charset="-128"/>
              <a:cs typeface="+mn-cs"/>
            </a:endParaRP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8E3865C-C54E-0462-9B47-4EC8AD8FB2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6500" y="3243420"/>
            <a:ext cx="8977063" cy="371160"/>
          </a:xfrm>
        </p:spPr>
        <p:txBody>
          <a:bodyPr/>
          <a:lstStyle/>
          <a:p>
            <a:r>
              <a:rPr lang="en-US" altLang="ja-JP" b="1" dirty="0"/>
              <a:t>Appendix.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42043260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D9EDE-9F1C-70B8-346A-1F7A9B1B0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FC2D1709-F09C-25FE-777A-B457742C60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9CA93EA-E741-6147-A020-AC21E298E377}" type="slidenum">
              <a:rPr kumimoji="1" lang="ja-JP" altLang="en-US" smtClean="0"/>
              <a:pPr/>
              <a:t>15</a:t>
            </a:fld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8F9EA7-294E-45F5-7D09-7B673001C4F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9882" y="383841"/>
            <a:ext cx="8863681" cy="380864"/>
          </a:xfrm>
        </p:spPr>
        <p:txBody>
          <a:bodyPr anchor="ctr"/>
          <a:lstStyle/>
          <a:p>
            <a:r>
              <a:rPr lang="ja-JP" altLang="en-US" sz="2000" b="1">
                <a:latin typeface="+mn-ea"/>
                <a:ea typeface="+mn-ea"/>
              </a:rPr>
              <a:t>アンケート回答者の所属</a:t>
            </a:r>
            <a:r>
              <a:rPr lang="en-US" altLang="ja-JP" sz="2000" b="1" dirty="0">
                <a:latin typeface="+mn-ea"/>
                <a:ea typeface="+mn-ea"/>
              </a:rPr>
              <a:t>(1/x)</a:t>
            </a:r>
            <a:endParaRPr kumimoji="1" lang="ja-JP" altLang="en-US" sz="2000" b="1" dirty="0">
              <a:latin typeface="+mn-ea"/>
              <a:ea typeface="+mn-ea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6E04CB9-D7C9-4F40-EC09-07D7A77F1D06}"/>
              </a:ext>
            </a:extLst>
          </p:cNvPr>
          <p:cNvSpPr txBox="1">
            <a:spLocks/>
          </p:cNvSpPr>
          <p:nvPr/>
        </p:nvSpPr>
        <p:spPr>
          <a:xfrm>
            <a:off x="7655357" y="6233437"/>
            <a:ext cx="1798206" cy="22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28600" indent="-22860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1000" b="1" kern="120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>
                <a:latin typeface="游ゴシック"/>
              </a:rPr>
              <a:t>回答数</a:t>
            </a:r>
            <a:r>
              <a:rPr lang="en-US" altLang="ja-JP" dirty="0">
                <a:latin typeface="游ゴシック"/>
              </a:rPr>
              <a:t>: xx / xx </a:t>
            </a:r>
            <a:r>
              <a:rPr lang="ja-JP" altLang="en-US">
                <a:latin typeface="游ゴシック"/>
              </a:rPr>
              <a:t>名</a:t>
            </a:r>
            <a:endParaRPr lang="ja-JP" altLang="en-US" dirty="0">
              <a:latin typeface="游ゴシック"/>
            </a:endParaRPr>
          </a:p>
        </p:txBody>
      </p:sp>
      <p:graphicFrame>
        <p:nvGraphicFramePr>
          <p:cNvPr id="4" name="Table Placeholder 2">
            <a:extLst>
              <a:ext uri="{FF2B5EF4-FFF2-40B4-BE49-F238E27FC236}">
                <a16:creationId xmlns:a16="http://schemas.microsoft.com/office/drawing/2014/main" id="{9BA0F0EF-E387-7F61-F2EF-E7418381B7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51120081"/>
              </p:ext>
            </p:extLst>
          </p:nvPr>
        </p:nvGraphicFramePr>
        <p:xfrm>
          <a:off x="452438" y="1155226"/>
          <a:ext cx="4428554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游ゴシック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FFFFFF"/>
                          </a:solidFill>
                          <a:latin typeface="游ゴシック"/>
                        </a:rPr>
                        <a:t>回答</a:t>
                      </a:r>
                      <a:endParaRPr sz="1100" b="1" dirty="0">
                        <a:solidFill>
                          <a:srgbClr val="FFFFFF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11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747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+mn-ea"/>
                          <a:ea typeface="+mn-ea"/>
                        </a:rPr>
                        <a:t>12</a:t>
                      </a:r>
                      <a:endParaRPr sz="1000" b="1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030257"/>
                  </a:ext>
                </a:extLst>
              </a:tr>
            </a:tbl>
          </a:graphicData>
        </a:graphic>
      </p:graphicFrame>
      <p:graphicFrame>
        <p:nvGraphicFramePr>
          <p:cNvPr id="7" name="Table Placeholder 2">
            <a:extLst>
              <a:ext uri="{FF2B5EF4-FFF2-40B4-BE49-F238E27FC236}">
                <a16:creationId xmlns:a16="http://schemas.microsoft.com/office/drawing/2014/main" id="{9BD75F8B-37A5-2A23-74CD-6A27791B6F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21012925"/>
              </p:ext>
            </p:extLst>
          </p:nvPr>
        </p:nvGraphicFramePr>
        <p:xfrm>
          <a:off x="5025009" y="1155226"/>
          <a:ext cx="4428554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4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游ゴシック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FFFFFF"/>
                          </a:solidFill>
                          <a:latin typeface="游ゴシック"/>
                        </a:rPr>
                        <a:t>回答</a:t>
                      </a:r>
                      <a:endParaRPr sz="1100" b="1" dirty="0">
                        <a:solidFill>
                          <a:srgbClr val="FFFFFF"/>
                        </a:solidFill>
                        <a:latin typeface="游ゴシック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747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262626"/>
                          </a:solidFill>
                          <a:latin typeface="+mn-ea"/>
                          <a:ea typeface="+mn-ea"/>
                        </a:rPr>
                        <a:t>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1" dirty="0">
                        <a:solidFill>
                          <a:srgbClr val="262626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0302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11277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0A469-E607-5880-22DD-A26CCEA6C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91F6E5B5-980E-0648-F22A-B63362DBE2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CA93EA-E741-6147-A020-AC21E298E377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ea typeface="Noto Sans CJK JP Medium" panose="020B0500000000000000" pitchFamily="34" charset="-128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Noto Sans CJK JP Medium" panose="020B0500000000000000" pitchFamily="34" charset="-128"/>
              <a:cs typeface="+mn-cs"/>
            </a:endParaRP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3497F72-808B-DF90-A6C7-9BCB009AE4E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76500" y="3243420"/>
            <a:ext cx="8977063" cy="371160"/>
          </a:xfrm>
        </p:spPr>
        <p:txBody>
          <a:bodyPr/>
          <a:lstStyle/>
          <a:p>
            <a:r>
              <a:rPr lang="en-US" altLang="ja-JP" b="1" dirty="0"/>
              <a:t>EOF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970993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AMANE_Col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5608C"/>
      </a:accent1>
      <a:accent2>
        <a:srgbClr val="F4CC00"/>
      </a:accent2>
      <a:accent3>
        <a:srgbClr val="444444"/>
      </a:accent3>
      <a:accent4>
        <a:srgbClr val="548CAD"/>
      </a:accent4>
      <a:accent5>
        <a:srgbClr val="A6C6D6"/>
      </a:accent5>
      <a:accent6>
        <a:srgbClr val="E6F3FA"/>
      </a:accent6>
      <a:hlink>
        <a:srgbClr val="0563C1"/>
      </a:hlink>
      <a:folHlink>
        <a:srgbClr val="954F72"/>
      </a:folHlink>
    </a:clrScheme>
    <a:fontScheme name="ユーザー定義 1">
      <a:majorFont>
        <a:latin typeface="游ゴシック"/>
        <a:ea typeface="游ゴシック"/>
        <a:cs typeface=""/>
      </a:majorFont>
      <a:minorFont>
        <a:latin typeface="游ゴシック"/>
        <a:ea typeface="游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デザインの設定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 テーマ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 テーマ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テーマ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 テーマ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 テーマ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テーマ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 テーマ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 テーマ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テーマ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 テーマ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 テーマ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テーマ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 テーマ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 テーマ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テーマ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 テーマ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 テーマ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Angsana New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Cordia New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テーマ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43769</TotalTime>
  <Words>490</Words>
  <Application>Microsoft Macintosh PowerPoint</Application>
  <PresentationFormat>A4 210 x 297 mm</PresentationFormat>
  <Paragraphs>169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16</vt:i4>
      </vt:variant>
    </vt:vector>
  </HeadingPairs>
  <TitlesOfParts>
    <vt:vector size="26" baseType="lpstr">
      <vt:lpstr>MS PGothic</vt:lpstr>
      <vt:lpstr>Noto Sans CJK JP Bold</vt:lpstr>
      <vt:lpstr>Noto Sans CJK JP Medium</vt:lpstr>
      <vt:lpstr>游ゴシック</vt:lpstr>
      <vt:lpstr>游ゴシック</vt:lpstr>
      <vt:lpstr>Arial</vt:lpstr>
      <vt:lpstr>Noto Sans</vt:lpstr>
      <vt:lpstr>Noto Sans Med</vt:lpstr>
      <vt:lpstr>Office テーマ</vt:lpstr>
      <vt:lpstr>1_デザインの設定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Takeda, Ryuichi/竹田 隆一</dc:creator>
  <cp:lastModifiedBy>松田 斗夢（AMANE）</cp:lastModifiedBy>
  <cp:revision>909</cp:revision>
  <cp:lastPrinted>2022-10-27T01:51:17Z</cp:lastPrinted>
  <dcterms:created xsi:type="dcterms:W3CDTF">2021-01-31T05:09:58Z</dcterms:created>
  <dcterms:modified xsi:type="dcterms:W3CDTF">2026-04-04T14:13:52Z</dcterms:modified>
</cp:coreProperties>
</file>