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回答数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回答数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dPt>
            <c:idx val="3"/>
            <c:spPr>
              <a:solidFill>
                <a:srgbClr val="FF6B6B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cat>
            <c:strRef>
              <c:f>Sheet1!$A$2:$A$6</c:f>
              <c:strCache>
                <c:ptCount val="5"/>
                <c:pt idx="0">
                  <c:v>4  (48.0%)</c:v>
                </c:pt>
                <c:pt idx="1">
                  <c:v>5  (18.0%)</c:v>
                </c:pt>
                <c:pt idx="2">
                  <c:v>3  (16.0%)</c:v>
                </c:pt>
                <c:pt idx="3">
                  <c:v>2  (10.0%)</c:v>
                </c:pt>
                <c:pt idx="4">
                  <c:v>1  (8.0%)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9</c:v>
                </c:pt>
                <c:pt idx="2">
                  <c:v>8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/>
            </a:pPr>
            <a:r>
              <a:t>割合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dPt>
            <c:idx val="3"/>
            <c:spPr>
              <a:solidFill>
                <a:srgbClr val="FF6B6B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cat>
            <c:strRef>
              <c:f>Sheet1!$A$2:$A$6</c:f>
              <c:strCache>
                <c:ptCount val="5"/>
                <c:pt idx="0">
                  <c:v>4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9</c:v>
                </c:pt>
                <c:pt idx="2">
                  <c:v>8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回答数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回答数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dPt>
            <c:idx val="3"/>
            <c:spPr>
              <a:solidFill>
                <a:srgbClr val="FF6B6B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dPt>
            <c:idx val="5"/>
            <c:spPr>
              <a:solidFill>
                <a:srgbClr val="1ABC9C"/>
              </a:solidFill>
            </c:spPr>
          </c:dPt>
          <c:dPt>
            <c:idx val="6"/>
            <c:spPr>
              <a:solidFill>
                <a:srgbClr val="E67E22"/>
              </a:solidFill>
            </c:spPr>
          </c:dPt>
          <c:dPt>
            <c:idx val="7"/>
            <c:spPr>
              <a:solidFill>
                <a:srgbClr val="3498DB"/>
              </a:solidFill>
            </c:spPr>
          </c:dPt>
          <c:dPt>
            <c:idx val="8"/>
            <c:spPr>
              <a:solidFill>
                <a:srgbClr val="2ECC71"/>
              </a:solidFill>
            </c:spPr>
          </c:dPt>
          <c:cat>
            <c:strRef>
              <c:f>Sheet1!$A$2:$A$10</c:f>
              <c:strCache>
                <c:ptCount val="9"/>
                <c:pt idx="0">
                  <c:v>10  (22.0%)</c:v>
                </c:pt>
                <c:pt idx="1">
                  <c:v>6  (18.0%)</c:v>
                </c:pt>
                <c:pt idx="2">
                  <c:v>9  (16.0%)</c:v>
                </c:pt>
                <c:pt idx="3">
                  <c:v>8  (16.0%)</c:v>
                </c:pt>
                <c:pt idx="4">
                  <c:v>7  (14.0%)</c:v>
                </c:pt>
                <c:pt idx="5">
                  <c:v>5  (4.0%)</c:v>
                </c:pt>
                <c:pt idx="6">
                  <c:v>4  (4.0%)</c:v>
                </c:pt>
                <c:pt idx="7">
                  <c:v>3  (4.0%)</c:v>
                </c:pt>
                <c:pt idx="8">
                  <c:v>2  (2.0%)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/>
            </a:pPr>
            <a:r>
              <a:t>割合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dPt>
            <c:idx val="3"/>
            <c:spPr>
              <a:solidFill>
                <a:srgbClr val="FF6B6B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dPt>
            <c:idx val="5"/>
            <c:spPr>
              <a:solidFill>
                <a:srgbClr val="1ABC9C"/>
              </a:solidFill>
            </c:spPr>
          </c:dPt>
          <c:dPt>
            <c:idx val="6"/>
            <c:spPr>
              <a:solidFill>
                <a:srgbClr val="E67E22"/>
              </a:solidFill>
            </c:spPr>
          </c:dPt>
          <c:dPt>
            <c:idx val="7"/>
            <c:spPr>
              <a:solidFill>
                <a:srgbClr val="3498DB"/>
              </a:solidFill>
            </c:spPr>
          </c:dPt>
          <c:dPt>
            <c:idx val="8"/>
            <c:spPr>
              <a:solidFill>
                <a:srgbClr val="2ECC71"/>
              </a:solidFill>
            </c:spPr>
          </c:dPt>
          <c:cat>
            <c:strRef>
              <c:f>Sheet1!$A$2:$A$10</c:f>
              <c:strCache>
                <c:ptCount val="9"/>
                <c:pt idx="0">
                  <c:v>10</c:v>
                </c:pt>
                <c:pt idx="1">
                  <c:v>6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5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回答数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回答数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dPt>
            <c:idx val="3"/>
            <c:spPr>
              <a:solidFill>
                <a:srgbClr val="FF6B6B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dPt>
            <c:idx val="5"/>
            <c:spPr>
              <a:solidFill>
                <a:srgbClr val="1ABC9C"/>
              </a:solidFill>
            </c:spPr>
          </c:dPt>
          <c:cat>
            <c:strRef>
              <c:f>Sheet1!$A$2:$A$7</c:f>
              <c:strCache>
                <c:ptCount val="6"/>
                <c:pt idx="0">
                  <c:v>40代  (28.0%)</c:v>
                </c:pt>
                <c:pt idx="1">
                  <c:v>30代  (20.0%)</c:v>
                </c:pt>
                <c:pt idx="2">
                  <c:v>60代以上  (18.0%)</c:v>
                </c:pt>
                <c:pt idx="3">
                  <c:v>50代  (16.0%)</c:v>
                </c:pt>
                <c:pt idx="4">
                  <c:v>20代  (12.0%)</c:v>
                </c:pt>
                <c:pt idx="5">
                  <c:v>10代  (6.0%)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6</c:v>
                </c:pt>
                <c:pt idx="5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/>
            </a:pPr>
            <a:r>
              <a:t>割合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dPt>
            <c:idx val="3"/>
            <c:spPr>
              <a:solidFill>
                <a:srgbClr val="FF6B6B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dPt>
            <c:idx val="5"/>
            <c:spPr>
              <a:solidFill>
                <a:srgbClr val="1ABC9C"/>
              </a:solidFill>
            </c:spPr>
          </c:dPt>
          <c:cat>
            <c:strRef>
              <c:f>Sheet1!$A$2:$A$7</c:f>
              <c:strCache>
                <c:ptCount val="6"/>
                <c:pt idx="0">
                  <c:v>40代</c:v>
                </c:pt>
                <c:pt idx="1">
                  <c:v>30代</c:v>
                </c:pt>
                <c:pt idx="2">
                  <c:v>60代以上</c:v>
                </c:pt>
                <c:pt idx="3">
                  <c:v>50代</c:v>
                </c:pt>
                <c:pt idx="4">
                  <c:v>20代</c:v>
                </c:pt>
                <c:pt idx="5">
                  <c:v>10代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6</c:v>
                </c:pt>
                <c:pt idx="5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回答数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回答数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cat>
            <c:strRef>
              <c:f>Sheet1!$A$2:$A$4</c:f>
              <c:strCache>
                <c:ptCount val="3"/>
                <c:pt idx="0">
                  <c:v>女性  (56.0%)</c:v>
                </c:pt>
                <c:pt idx="1">
                  <c:v>男性  (40.0%)</c:v>
                </c:pt>
                <c:pt idx="2">
                  <c:v>回答しない  (4.0%)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20</c:v>
                </c:pt>
                <c:pt idx="2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/>
            </a:pPr>
            <a:r>
              <a:t>割合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cat>
            <c:strRef>
              <c:f>Sheet1!$A$2:$A$4</c:f>
              <c:strCache>
                <c:ptCount val="3"/>
                <c:pt idx="0">
                  <c:v>女性</c:v>
                </c:pt>
                <c:pt idx="1">
                  <c:v>男性</c:v>
                </c:pt>
                <c:pt idx="2">
                  <c:v>回答しない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20</c:v>
                </c:pt>
                <c:pt idx="2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回答数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回答数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dPt>
            <c:idx val="3"/>
            <c:spPr>
              <a:solidFill>
                <a:srgbClr val="FF6B6B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cat>
            <c:strRef>
              <c:f>Sheet1!$A$2:$A$6</c:f>
              <c:strCache>
                <c:ptCount val="5"/>
                <c:pt idx="0">
                  <c:v>週1〜2日  (30.0%)</c:v>
                </c:pt>
                <c:pt idx="1">
                  <c:v>週3〜4日  (26.0%)</c:v>
                </c:pt>
                <c:pt idx="2">
                  <c:v>月1回以下  (18.0%)</c:v>
                </c:pt>
                <c:pt idx="3">
                  <c:v>月2〜3回  (16.0%)</c:v>
                </c:pt>
                <c:pt idx="4">
                  <c:v>週5日以上  (10.0%)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13</c:v>
                </c:pt>
                <c:pt idx="2">
                  <c:v>9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/>
            </a:pPr>
            <a:r>
              <a:t>割合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dPt>
            <c:idx val="3"/>
            <c:spPr>
              <a:solidFill>
                <a:srgbClr val="FF6B6B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cat>
            <c:strRef>
              <c:f>Sheet1!$A$2:$A$6</c:f>
              <c:strCache>
                <c:ptCount val="5"/>
                <c:pt idx="0">
                  <c:v>週1〜2日</c:v>
                </c:pt>
                <c:pt idx="1">
                  <c:v>週3〜4日</c:v>
                </c:pt>
                <c:pt idx="2">
                  <c:v>月1回以下</c:v>
                </c:pt>
                <c:pt idx="3">
                  <c:v>月2〜3回</c:v>
                </c:pt>
                <c:pt idx="4">
                  <c:v>週5日以上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13</c:v>
                </c:pt>
                <c:pt idx="2">
                  <c:v>9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回答数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回答数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dPt>
            <c:idx val="3"/>
            <c:spPr>
              <a:solidFill>
                <a:srgbClr val="FF6B6B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dPt>
            <c:idx val="5"/>
            <c:spPr>
              <a:solidFill>
                <a:srgbClr val="1ABC9C"/>
              </a:solidFill>
            </c:spPr>
          </c:dPt>
          <c:cat>
            <c:strRef>
              <c:f>Sheet1!$A$2:$A$7</c:f>
              <c:strCache>
                <c:ptCount val="6"/>
                <c:pt idx="0">
                  <c:v>品質  (30.0%)</c:v>
                </c:pt>
                <c:pt idx="1">
                  <c:v>利便性  (30.0%)</c:v>
                </c:pt>
                <c:pt idx="2">
                  <c:v>価格  (16.0%)</c:v>
                </c:pt>
                <c:pt idx="3">
                  <c:v>その他  (12.0%)</c:v>
                </c:pt>
                <c:pt idx="4">
                  <c:v>口コミ  (8.0%)</c:v>
                </c:pt>
                <c:pt idx="5">
                  <c:v>デザイン  (4.0%)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15</c:v>
                </c:pt>
                <c:pt idx="2">
                  <c:v>8</c:v>
                </c:pt>
                <c:pt idx="3">
                  <c:v>6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/>
            </a:pPr>
            <a:r>
              <a:t>割合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dPt>
            <c:idx val="3"/>
            <c:spPr>
              <a:solidFill>
                <a:srgbClr val="FF6B6B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dPt>
            <c:idx val="5"/>
            <c:spPr>
              <a:solidFill>
                <a:srgbClr val="1ABC9C"/>
              </a:solidFill>
            </c:spPr>
          </c:dPt>
          <c:cat>
            <c:strRef>
              <c:f>Sheet1!$A$2:$A$7</c:f>
              <c:strCache>
                <c:ptCount val="6"/>
                <c:pt idx="0">
                  <c:v>品質</c:v>
                </c:pt>
                <c:pt idx="1">
                  <c:v>利便性</c:v>
                </c:pt>
                <c:pt idx="2">
                  <c:v>価格</c:v>
                </c:pt>
                <c:pt idx="3">
                  <c:v>その他</c:v>
                </c:pt>
                <c:pt idx="4">
                  <c:v>口コミ</c:v>
                </c:pt>
                <c:pt idx="5">
                  <c:v>デザイン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15</c:v>
                </c:pt>
                <c:pt idx="2">
                  <c:v>8</c:v>
                </c:pt>
                <c:pt idx="3">
                  <c:v>6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/>
            </a:pPr>
            <a:r>
              <a:t>回答数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回答数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dPt>
            <c:idx val="3"/>
            <c:spPr>
              <a:solidFill>
                <a:srgbClr val="FF6B6B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cat>
            <c:strRef>
              <c:f>Sheet1!$A$2:$A$6</c:f>
              <c:strCache>
                <c:ptCount val="5"/>
                <c:pt idx="0">
                  <c:v>価格を下げてほしい  (26.0%)</c:v>
                </c:pt>
                <c:pt idx="1">
                  <c:v>UI改善  (26.0%)</c:v>
                </c:pt>
                <c:pt idx="2">
                  <c:v>サポート強化  (20.0%)</c:v>
                </c:pt>
                <c:pt idx="3">
                  <c:v>機能追加  (16.0%)</c:v>
                </c:pt>
                <c:pt idx="4">
                  <c:v>特になし  (12.0%)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13</c:v>
                </c:pt>
                <c:pt idx="2">
                  <c:v>10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/>
            </a:pPr>
            <a:r>
              <a:t>割合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dPt>
            <c:idx val="0"/>
            <c:spPr>
              <a:solidFill>
                <a:srgbClr val="2E75B6"/>
              </a:solidFill>
            </c:spPr>
          </c:dPt>
          <c:dPt>
            <c:idx val="1"/>
            <c:spPr>
              <a:solidFill>
                <a:srgbClr val="70AD47"/>
              </a:solidFill>
            </c:spPr>
          </c:dPt>
          <c:dPt>
            <c:idx val="2"/>
            <c:spPr>
              <a:solidFill>
                <a:srgbClr val="FFC000"/>
              </a:solidFill>
            </c:spPr>
          </c:dPt>
          <c:dPt>
            <c:idx val="3"/>
            <c:spPr>
              <a:solidFill>
                <a:srgbClr val="FF6B6B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cat>
            <c:strRef>
              <c:f>Sheet1!$A$2:$A$6</c:f>
              <c:strCache>
                <c:ptCount val="5"/>
                <c:pt idx="0">
                  <c:v>価格を下げてほしい</c:v>
                </c:pt>
                <c:pt idx="1">
                  <c:v>UI改善</c:v>
                </c:pt>
                <c:pt idx="2">
                  <c:v>サポート強化</c:v>
                </c:pt>
                <c:pt idx="3">
                  <c:v>機能追加</c:v>
                </c:pt>
                <c:pt idx="4">
                  <c:v>特になし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13</c:v>
                </c:pt>
                <c:pt idx="2">
                  <c:v>10</c:v>
                </c:pt>
                <c:pt idx="3">
                  <c:v>8</c:v>
                </c:pt>
                <c:pt idx="4">
                  <c:v>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88952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sample_survey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</a:defRPr>
            </a:pPr>
            <a:r>
              <a:t>回答者数: 50 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EEBF7"/>
                </a:solidFill>
              </a:defRPr>
            </a:pPr>
            <a:r>
              <a:t>2026年03月01日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383280" cy="1417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総回答者数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190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50 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97280"/>
            <a:ext cx="3383280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188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満足度(1〜5)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7190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最多: 4</a:t>
            </a:r>
            <a:br/>
            <a:r>
              <a:t>(48%)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62088" y="1097280"/>
            <a:ext cx="3383280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8" y="1188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おすすめ度(1〜10)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17190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最多: 10</a:t>
            </a:r>
            <a:br/>
            <a:r>
              <a:t>(22%)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92256" y="1097280"/>
            <a:ext cx="3383280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29416" y="1188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年代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29416" y="17190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最多: 40代</a:t>
            </a:r>
            <a:br/>
            <a:r>
              <a:t>(28%)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624328"/>
            <a:ext cx="3383280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7157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性別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2461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最多: 女性</a:t>
            </a:r>
            <a:br/>
            <a:r>
              <a:t>(56%)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62088" y="2624328"/>
            <a:ext cx="3383280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27157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利用頻度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32461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最多: 週1〜2日</a:t>
            </a:r>
            <a:br/>
            <a:r>
              <a:t>(30%)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92256" y="2624328"/>
            <a:ext cx="3383280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29416" y="271576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選んだ理由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29416" y="324612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最多: 品質</a:t>
            </a:r>
            <a:br/>
            <a:r>
              <a:t>(30%)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満足度(1〜5)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005840"/>
          <a:ext cx="713232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589520" y="1005840"/>
          <a:ext cx="4389120" cy="5394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50 / 50 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おすすめ度(1〜10)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005840"/>
          <a:ext cx="713232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589520" y="1005840"/>
          <a:ext cx="4389120" cy="5394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50 / 50 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年代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005840"/>
          <a:ext cx="713232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589520" y="1005840"/>
          <a:ext cx="4389120" cy="5394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50 / 50 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性別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005840"/>
          <a:ext cx="713232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589520" y="1005840"/>
          <a:ext cx="4389120" cy="5394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50 / 50 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利用頻度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005840"/>
          <a:ext cx="713232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589520" y="1005840"/>
          <a:ext cx="4389120" cy="5394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50 / 50 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選んだ理由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005840"/>
          <a:ext cx="713232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589520" y="1005840"/>
          <a:ext cx="4389120" cy="5394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50 / 50 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改善してほしい点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1005840"/>
          <a:ext cx="713232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589520" y="1005840"/>
          <a:ext cx="4389120" cy="5394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50 / 50 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自由記述  (1/6)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サービス全体として非常に満足しています。今後も継続して利用したいです。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335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少し価格が高いと感じますが品質は申し分ないです。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6829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UIがわかりにくい部分があるので改善してほしいです。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90088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2666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サポートの対応が早くて助かりました。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48456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8503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もう少し機能を増やしてほしいです。特に検索機能を強化してほしい。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06824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特に問題はありません。これからも使います。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6519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0176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競合他社と比べてコストパフォーマンスが高いと思います。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013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モバイルアプリの動作が不安定なことがあります。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42 / 50 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自由記述  (2/6)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定期的なアップデートが嬉しいです。要望も反映されていて好印象です。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335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初めて使ったときは迷いましたが、慣れると使いやすいです。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6829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毎日使っているので、もう少し高速化してほしいです。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90088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2666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問題なく使えています。次回も利用予定です。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48456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8503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チュートリアルが充実していてスムーズに始められました。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06824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デザインがシンプルで気に入っています。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6519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0176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機能が多すぎて逆に使いにくいと感じることがあります。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013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価格に見合った品質だと思います。満足しています。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42 / 50 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自由記述  (3/6)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サービス全体として非常に満足しています。今後も継続して利用したいです。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335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少し価格が高いと感じますが品質は申し分ないです。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6829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UIがわかりにくい部分があるので改善してほしいです。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90088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2666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サポートの対応が早くて助かりました。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48456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8503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もう少し機能を増やしてほしいです。特に検索機能を強化してほしい。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06824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特に問題はありません。これからも使います。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6519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0176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競合他社と比べてコストパフォーマンスが高いと思います。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013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モバイルアプリの動作が不安定なことがあります。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42 / 50 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自由記述  (4/6)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定期的なアップデートが嬉しいです。要望も反映されていて好印象です。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335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初めて使ったときは迷いましたが、慣れると使いやすいです。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6829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毎日使っているので、もう少し高速化してほしいです。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90088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2666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問題なく使えています。次回も利用予定です。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48456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8503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チュートリアルが充実していてスムーズに始められました。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06824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デザインがシンプルで気に入っています。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6519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0176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機能が多すぎて逆に使いにくいと感じることがあります。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013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価格に見合った品質だと思います。満足しています。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42 / 50 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自由記述  (5/6)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サービス全体として非常に満足しています。今後も継続して利用したいです。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335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少し価格が高いと感じますが品質は申し分ないです。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5973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36829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UIがわかりにくい部分があるので改善してほしいです。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90088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11810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2666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サポートの対応が早くて助かりました。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48456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7764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85032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もう少し機能を増やしてほしいです。特に検索機能を強化してほしい。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06824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434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4340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特に問題はありません。これからも使います。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6519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09320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0176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競合他社と比べてコストパフォーマンスが高いと思います。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23560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575157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660136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モバイルアプリの動作が不安定なことがあります。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42 / 50 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594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71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自由記述  (6/6)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051560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定期的なアップデートが嬉しいです。要望も反映されていて好印象です。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73352"/>
            <a:ext cx="116128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09928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6"/>
                </a:solidFill>
              </a:defRPr>
            </a:pPr>
            <a:r>
              <a:t>初めて使ったときは迷いましたが、慣れると使いやすいです。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093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08080"/>
                </a:solidFill>
              </a:defRPr>
            </a:pPr>
            <a:r>
              <a:t>回答数: 42 / 50 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